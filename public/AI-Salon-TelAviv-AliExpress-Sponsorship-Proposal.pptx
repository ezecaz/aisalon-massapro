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strategic narrative — AI Salon Tel Aviv is the central hub for Israeli AI talent.
- AliExpress has the opportunity to anchor this hub for 12 months.
- Frame as an active investment in the heart of the Israeli tech ecosystem — not a marketing spend.
- Pause briefly after the headline so the visual weight of "The AI Ecosystem Engine" lands before continuing.
- Signal the deck arc: Partnership → Value Proposition →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Section walks through the structure of the partnership.
- Six bi-monthly flagship events anchor the year; top billing on every chapter communication.
- Exclusive 20-minute thought-leadership slot per event for an AliExpress technical or executive voice.
- Always-on digital reach between events — monthly email blast + bi-monthly WhatsApp community update.
- Frame the package as an active investment, not a marketing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Walk through each of the 6 pillars briefly — they form one integrated system, not a list of disconnected line items.
- Physical events anchor the relationship; digital channels sustain momentum between events; merch + content extends the brand beyond the room.
- Emphasize that thought-leadership slots are explicitly NOT sales pitches — they are technical insights positioning AliExpress as a serious partner.
- Highlight Pillar 02 (Top-Tier Brand Billing) — naming rights on every email, social post, Luma/Meetup page, and opening slide.
- Pillar 04 (Community Digital Reach) is the always-on engine: monthly email + bi-monthly WhatsApp keeps AliExpress continuously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Open with the strategic positioning: the entire 12-month calendar is built exclusively around the Qwen model family — AliExpress's in-house LLM. This is the strongest possible brand alignment: every event is a Qwen event.
- Walk through the Qwen lineup: M2 Qwen-Max flagship, M4 Qwen-VL-Max for vision, M6 Qwen-Coder for dev tools, M8 Qwen3 open weights for fine-tuning, M10 Qwen-Agent for production agents, M12 Qwen-Next roadmap preview.
- Each event has a dedicated session with an AliExpress technical speaker — that's 6 sessions over the year, each one positioning AliExpress as a serious AI builder, not just a marketplace.
- Emphasize the early-access layer: every event pairs the deep-dive with concrete perks — API credits, preview access, fine-tuning compute, closed-beta seats. Hundreds of dollars of community value per event.
- Close with the rhythm: 6 flagship Qwen events + 12 monthly email blasts + 24 WhatsApp community drops = continuous visibility for AliExpress as the exclusive Qwen partner in Israel.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section answers the question: who exactly does AliExpress reach through this partnership?
- The audience is highly specialized — investors, founders, technologists, and ecosystem players.
- We will break down the exact demographics and the global network this partnership plugs AliExpress into.
- Mirror of slide 02 layout — but in AIS Cyan with black typography (opposite color per brand book §8).
- Next slide drills into the audience composition: 40% founders/builders, 20% investors, 20% engineers, 20% diverse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- 40% of the audience are founders and builders — the people building the next generation of retail-tech, commerce infrastructure, and ML platforms.
- Another 20% are investors who fund them — direct line into early-stage AI capital flows.
- Remaining 40% split between engineers (20%) and the broader ecosystem (research, corporate innovation, accelerators, SMBs).
- This is not a generic tech audience — it is the most curated AI community in Israel.
- Demographics mirror the global AI Salon network, so the Tel Aviv chapter inherits a proven 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These numbers are the leverage play — AliExpress is sponsoring Tel Aviv, but really buying into a 59-chapter global network.
- A Tel Aviv keynote speaker's content can be amplified across the entire global AI Salon community.
- 130K+ cumulative registrations is the reach AliExpress is buying into; 1,500+ participating startups signals real density.
- 500+ global events since 2024 validates the network's operational throughput.
- Frame Tel Aviv as the local anchor; the global network is the multiplier.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Peer group is the social proof: AWS, Google for Startups, Microsoft for Startups, Appier, and Dubai International Finance Center have all partnered with AI Salon globally.
- AliExpress would be the first retail-commerce platform to anchor a Tel Aviv chapter partnership — a category-defining position.
- The brand halo from this peer set positions AliExpress alongside cloud and AI infrastructure leaders.
- Use this slide to land the "you'd be in elite company, and uniquely so" narrative.
- Lead into Section 03: this positioning justifies the investment math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final section is the financial framework — intentionally simple and predictable.
- Flat monthly commitment, 12-month term, total $72K.
- Allocation maps every dollar to either a flagship event or always-on digital value.
- Mirror of slides 02 and 05 layout, but on AIS Black with a gradient divider bar.
- Lead into the closing slide: investment summary + contact + 30-minute alignment call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Close with the ask: $6K/month, 12-month term, $72K total annual investment.
- Walk through allocation: 6 flagship events at $12K value-equivalent each, plus always-on digital (email + WhatsApp) and persistent webpage branding.
- Propose a 30-minute alignment call to finalize the calendar, confirm AliExpress thought-leadership speakers, and lock the first event date.
- The partnership can launch within 30 days of signature — emphasize speed and low-friction onboarding.
- Hand off contact: Eze Caz, Chapter Lead, eze@massapro.com, aisalon.massapro.com.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42963"/>
            <a:ext cx="45720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aisalon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71575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9" kern="0" dirty="0">
                <a:solidFill>
                  <a:srgbClr val="00E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EMPOWERING AI CONNECTIONS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528763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 AVIV CHAPTER · SPONSORSHIP PROPOSAL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00225"/>
            <a:ext cx="4286250" cy="199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4838" b="1" spc="-19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AI Ecosystem Engine</a:t>
            </a:r>
            <a:endParaRPr lang="en-US" sz="4838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86188"/>
            <a:ext cx="457200" cy="285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957638"/>
            <a:ext cx="342900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AliExpress × AI Salon Tel Aviv — a 12-month exclusive partnership anchoring AliExpress at the heart of Israel's AI community.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917579"/>
            <a:ext cx="4681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55" kern="0" dirty="0">
                <a:solidFill>
                  <a:srgbClr val="FFFFFF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FOR ALIEXPRESS · AUGUST 2026</a:t>
            </a:r>
            <a:endParaRPr lang="en-US" sz="800" dirty="0"/>
          </a:p>
        </p:txBody>
      </p:sp>
      <p:pic>
        <p:nvPicPr>
          <p:cNvPr id="11" name="Image 2" descr="/tmp/h2p-fit-1788202050902-t5w6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aisalon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57200" y="1099468"/>
            <a:ext cx="8109049" cy="194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75"/>
              </a:lnSpc>
              <a:buNone/>
            </a:pPr>
            <a:r>
              <a:rPr lang="en-US" sz="15750" b="1" spc="-94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0" dirty="0"/>
          </a:p>
        </p:txBody>
      </p:sp>
      <p:sp>
        <p:nvSpPr>
          <p:cNvPr id="4" name="Text 2"/>
          <p:cNvSpPr/>
          <p:nvPr/>
        </p:nvSpPr>
        <p:spPr>
          <a:xfrm>
            <a:off x="457200" y="3056855"/>
            <a:ext cx="571500" cy="2143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235449"/>
            <a:ext cx="6142605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9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PARTNERSHIP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457200" y="3864099"/>
            <a:ext cx="5068156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12-month exclusive anchor partnership — engineered for ecosystem access.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8237190" y="4814888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FFFFFF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SPONSOR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activation pillars across 12 months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57200" y="1015752"/>
            <a:ext cx="51435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pillar is engineered for maximum integration across the Tel Aviv tech community — bi-monthly physical events plus always-on digital channels.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57200" y="1587252"/>
            <a:ext cx="2666963" cy="158077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590824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0591" y="1587252"/>
            <a:ext cx="0" cy="1580778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64458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488" y="1587252"/>
            <a:ext cx="0" cy="1580778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225" y="17515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657225" y="2008733"/>
            <a:ext cx="2398072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Bi-Monthly Event Sponsorship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57225" y="2220144"/>
            <a:ext cx="2288344" cy="63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AliExpress presents 6 flagship AI Salon Tel Aviv events across 12 months — every two months, the community convenes under the AliExpress banner.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7225" y="2885852"/>
            <a:ext cx="2288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55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38463" y="1587252"/>
            <a:ext cx="2666963" cy="158077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463" y="1590824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1854" y="1587252"/>
            <a:ext cx="0" cy="1580778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8463" y="3164458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52750" y="1587252"/>
            <a:ext cx="0" cy="1580778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488" y="17515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3438488" y="2008733"/>
            <a:ext cx="2288344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Top-Tier Brand Billing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3438488" y="2220144"/>
            <a:ext cx="2288344" cy="47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“AI Salon Tel Aviv, Presented by AliExpress” on every email, social post, Luma/Meetup page, and opening slide.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38488" y="2740856"/>
            <a:ext cx="2288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55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19726" y="1587252"/>
            <a:ext cx="2667074" cy="158077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19726" y="1590824"/>
            <a:ext cx="2667074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3228" y="1587252"/>
            <a:ext cx="0" cy="1580778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9726" y="3164458"/>
            <a:ext cx="2667074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4013" y="1587252"/>
            <a:ext cx="0" cy="1580778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9751" y="17515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6219751" y="2008733"/>
            <a:ext cx="2288456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Thought Leadership Slots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6219751" y="2220144"/>
            <a:ext cx="2288456" cy="63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20-minute “AI Insight” talk per event from an AliExpress technical/executive expert — retail-tech, global commerce, or ML infrastructure.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19751" y="2885852"/>
            <a:ext cx="22884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55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282330"/>
            <a:ext cx="2666963" cy="158077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57200" y="3285902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20591" y="3282330"/>
            <a:ext cx="0" cy="1580778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59536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1488" y="3282330"/>
            <a:ext cx="0" cy="1580778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225" y="344663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657225" y="3703811"/>
            <a:ext cx="2288344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Digital Reach</a:t>
            </a:r>
            <a:endParaRPr lang="en-US" sz="1013" dirty="0"/>
          </a:p>
        </p:txBody>
      </p:sp>
      <p:sp>
        <p:nvSpPr>
          <p:cNvPr id="39" name="Text 37"/>
          <p:cNvSpPr/>
          <p:nvPr/>
        </p:nvSpPr>
        <p:spPr>
          <a:xfrm>
            <a:off x="657225" y="3915221"/>
            <a:ext cx="2288344" cy="47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email blast + bi-monthly WhatsApp community update featuring AliExpress tools, dev integrations, and exclusive advantages.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7225" y="4435934"/>
            <a:ext cx="2288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55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38463" y="3282330"/>
            <a:ext cx="2666963" cy="158077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38463" y="3285902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01854" y="3282330"/>
            <a:ext cx="0" cy="1580778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8463" y="4859536"/>
            <a:ext cx="26669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52750" y="3282330"/>
            <a:ext cx="0" cy="1580778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38488" y="344663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688" dirty="0"/>
          </a:p>
        </p:txBody>
      </p:sp>
      <p:sp>
        <p:nvSpPr>
          <p:cNvPr id="47" name="Text 45"/>
          <p:cNvSpPr/>
          <p:nvPr/>
        </p:nvSpPr>
        <p:spPr>
          <a:xfrm>
            <a:off x="3438488" y="3703811"/>
            <a:ext cx="2398072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Opening + Networking Access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3438488" y="3915221"/>
            <a:ext cx="2288344" cy="47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60-second Community Welcome spot per event, private pre-event briefings with speakers, 5 complimentary tickets per event.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38488" y="4435934"/>
            <a:ext cx="2288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55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19726" y="3282330"/>
            <a:ext cx="2667074" cy="158077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019726" y="3285902"/>
            <a:ext cx="2667074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83228" y="3282330"/>
            <a:ext cx="0" cy="1580778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9726" y="4859536"/>
            <a:ext cx="2667074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4013" y="3282330"/>
            <a:ext cx="0" cy="1580778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9751" y="344663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56" name="Text 54"/>
          <p:cNvSpPr/>
          <p:nvPr/>
        </p:nvSpPr>
        <p:spPr>
          <a:xfrm>
            <a:off x="6219751" y="3703811"/>
            <a:ext cx="2398184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Co-Branded Merch + Content</a:t>
            </a:r>
            <a:endParaRPr lang="en-US" sz="1013" dirty="0"/>
          </a:p>
        </p:txBody>
      </p:sp>
      <p:sp>
        <p:nvSpPr>
          <p:cNvPr id="57" name="Text 55"/>
          <p:cNvSpPr/>
          <p:nvPr/>
        </p:nvSpPr>
        <p:spPr>
          <a:xfrm>
            <a:off x="6219751" y="3915221"/>
            <a:ext cx="2288456" cy="63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High-utility co-branded merchandise distributed at events. Post-event Thank You emails link to AliExpress whitepapers + dev portal.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19751" y="4580930"/>
            <a:ext cx="22884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55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843463"/>
            <a:ext cx="7765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SALON TEL AVIV · SPONSORSHIP PROPOSAL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37190" y="48434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57175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86" kern="0" dirty="0">
                <a:solidFill>
                  <a:srgbClr val="00E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12-MONTH QWEN ACTIVATION CALENDAR · ALIEXPRESS EXCLUSIVE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17909"/>
            <a:ext cx="8636000" cy="27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8"/>
              </a:lnSpc>
              <a:buNone/>
            </a:pPr>
            <a:r>
              <a:rPr lang="en-US" sz="1913" b="1" spc="-3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flagship events, all anchored by the Qwen model family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00050" y="730002"/>
            <a:ext cx="5429250" cy="47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exclusive 12-month series built entirely around Alibaba's Qwen LLM family — Qwen-Max, Qwen-VL-Max, Qwen-Coder, Qwen3 open weights, Qwen-Agent, and a Qwen-Next preview. Each bi-monthly event pairs a technical deep-dive with a dedicated session and early-access benefits for the AI Salon TLV community.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7194" y="1241003"/>
            <a:ext cx="2709825" cy="1514475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4288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4338" y="1248147"/>
            <a:ext cx="2695538" cy="373484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8202053802-3ugh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38" y="1248147"/>
            <a:ext cx="2695538" cy="3734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1490" y="1697498"/>
            <a:ext cx="970278" cy="184023"/>
          </a:xfrm>
          <a:prstGeom prst="roundRect">
            <a:avLst>
              <a:gd name="adj" fmla="val 5170807"/>
            </a:avLst>
          </a:prstGeom>
          <a:solidFill>
            <a:srgbClr val="FF005A">
              <a:alpha val="8000"/>
            </a:srgbClr>
          </a:solidFill>
          <a:ln w="7144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750219"/>
            <a:ext cx="68167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EARLY ACCESS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78644" y="175021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1928813"/>
            <a:ext cx="2495513" cy="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 of Qwen-Max powering agent-driven product discovery, cross-language search, and global catalog reasoning at marketplace scale.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gets: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private Qwen-Max API sandbox + $2K in credits.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14350" y="2427982"/>
            <a:ext cx="249551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14350" y="2460129"/>
            <a:ext cx="607300" cy="17678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6F42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50565" y="2460129"/>
            <a:ext cx="2059298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Qwen-Max in Production: Powering Agent-Driven Catalog Reasoning at AliExpress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13460" y="1237431"/>
            <a:ext cx="2716969" cy="152161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17032" y="1241003"/>
            <a:ext cx="2709825" cy="38777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/tmp/h2p-fit-1788202053918-i0t6w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032" y="1241003"/>
            <a:ext cx="2709825" cy="3877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4184" y="1704642"/>
            <a:ext cx="970278" cy="184023"/>
          </a:xfrm>
          <a:prstGeom prst="roundRect">
            <a:avLst>
              <a:gd name="adj" fmla="val 5170807"/>
            </a:avLst>
          </a:prstGeom>
          <a:solidFill>
            <a:srgbClr val="FF005A">
              <a:alpha val="8000"/>
            </a:srgbClr>
          </a:solidFill>
          <a:ln w="7144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95638" y="1757363"/>
            <a:ext cx="68167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EARLY ACCESS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3381338" y="175736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317044" y="1935956"/>
            <a:ext cx="2509800" cy="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Qwen-VL-Max for retail: multimodal product understanding, image-based search, visual QA at catalog scale.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gets: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Qwen-VL-Max preview + sample retail vision dataset for benchmarks.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317044" y="2435126"/>
            <a:ext cx="25098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3317044" y="2467273"/>
            <a:ext cx="607300" cy="17678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6F42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753259" y="2467273"/>
            <a:ext cx="2073585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Qwen-VL-Max for Retail: Multimodal Product Understanding at Scale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023297" y="1237431"/>
            <a:ext cx="2717081" cy="152161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026869" y="1241003"/>
            <a:ext cx="2709937" cy="38777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/tmp/h2p-fit-1788202054181-jah48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869" y="1241003"/>
            <a:ext cx="2709937" cy="3877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04022" y="1704642"/>
            <a:ext cx="970278" cy="184023"/>
          </a:xfrm>
          <a:prstGeom prst="roundRect">
            <a:avLst>
              <a:gd name="adj" fmla="val 5170807"/>
            </a:avLst>
          </a:prstGeom>
          <a:solidFill>
            <a:srgbClr val="FF005A">
              <a:alpha val="8000"/>
            </a:srgbClr>
          </a:solidFill>
          <a:ln w="7144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305476" y="1757363"/>
            <a:ext cx="68167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EARLY ACCESS</a:t>
            </a:r>
            <a:endParaRPr lang="en-US" sz="600" dirty="0"/>
          </a:p>
        </p:txBody>
      </p:sp>
      <p:sp>
        <p:nvSpPr>
          <p:cNvPr id="30" name="Text 25"/>
          <p:cNvSpPr/>
          <p:nvPr/>
        </p:nvSpPr>
        <p:spPr>
          <a:xfrm>
            <a:off x="6191176" y="175736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126882" y="1935956"/>
            <a:ext cx="2509912" cy="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 workshop with Qwen-Coder building tools that read, query, and reason over the AliExpress catalog.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gets: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Qwen-Coder dev seats + pair-programming lab with AliExpress engineers.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126882" y="2435126"/>
            <a:ext cx="2509912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33" name="Text 28"/>
          <p:cNvSpPr/>
          <p:nvPr/>
        </p:nvSpPr>
        <p:spPr>
          <a:xfrm>
            <a:off x="6126882" y="2467273"/>
            <a:ext cx="607300" cy="17678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6F42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6563097" y="2467273"/>
            <a:ext cx="2073697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Coding with Qwen-Coder: Building Tools for the AliExpress Catalog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03622" y="2851919"/>
            <a:ext cx="2716969" cy="152161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07194" y="2855491"/>
            <a:ext cx="2709825" cy="38777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3" descr="/tmp/h2p-fit-1788202053835-l6u49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4" y="2855491"/>
            <a:ext cx="2709825" cy="3877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84346" y="3319129"/>
            <a:ext cx="970278" cy="184023"/>
          </a:xfrm>
          <a:prstGeom prst="roundRect">
            <a:avLst>
              <a:gd name="adj" fmla="val 5170807"/>
            </a:avLst>
          </a:prstGeom>
          <a:solidFill>
            <a:srgbClr val="FF005A">
              <a:alpha val="8000"/>
            </a:srgbClr>
          </a:solidFill>
          <a:ln w="7144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685800" y="3371850"/>
            <a:ext cx="68167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EARLY ACCESS</a:t>
            </a:r>
            <a:endParaRPr lang="en-US" sz="600" dirty="0"/>
          </a:p>
        </p:txBody>
      </p:sp>
      <p:sp>
        <p:nvSpPr>
          <p:cNvPr id="40" name="Text 34"/>
          <p:cNvSpPr/>
          <p:nvPr/>
        </p:nvSpPr>
        <p:spPr>
          <a:xfrm>
            <a:off x="571500" y="337185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507206" y="3550444"/>
            <a:ext cx="2509800" cy="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 fine-tuning lab on Qwen3 open weights for Israeli-domain use cases (Hebrew, retail, commerce).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gets: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free fine-tuned Qwen3 instance per startup + H100 compute hours.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507206" y="4049613"/>
            <a:ext cx="25098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43" name="Text 37"/>
          <p:cNvSpPr/>
          <p:nvPr/>
        </p:nvSpPr>
        <p:spPr>
          <a:xfrm>
            <a:off x="507206" y="4081760"/>
            <a:ext cx="607300" cy="17678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6F42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943421" y="4081760"/>
            <a:ext cx="2073585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Open-Weight Qwen3 Fine-Tuning Lab: Hebrew, Retail, and Beyond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3213460" y="2851919"/>
            <a:ext cx="2716969" cy="152161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3217032" y="2855491"/>
            <a:ext cx="2709825" cy="38777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4" descr="/tmp/h2p-fit-1788202053820-me4h6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7032" y="2855491"/>
            <a:ext cx="2709825" cy="38777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3294184" y="3319129"/>
            <a:ext cx="970278" cy="184023"/>
          </a:xfrm>
          <a:prstGeom prst="roundRect">
            <a:avLst>
              <a:gd name="adj" fmla="val 5170807"/>
            </a:avLst>
          </a:prstGeom>
          <a:solidFill>
            <a:srgbClr val="FF005A">
              <a:alpha val="8000"/>
            </a:srgbClr>
          </a:solidFill>
          <a:ln w="7144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3495638" y="3371850"/>
            <a:ext cx="68167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EARLY ACCESS</a:t>
            </a:r>
            <a:endParaRPr lang="en-US" sz="600" dirty="0"/>
          </a:p>
        </p:txBody>
      </p:sp>
      <p:sp>
        <p:nvSpPr>
          <p:cNvPr id="50" name="Text 43"/>
          <p:cNvSpPr/>
          <p:nvPr/>
        </p:nvSpPr>
        <p:spPr>
          <a:xfrm>
            <a:off x="3381338" y="337185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3317044" y="3550444"/>
            <a:ext cx="2509800" cy="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 of Qwen-Agent: multi-step commerce workflows, tool-use, RAG over AliExpress APIs.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gets: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Qwen-Agent framework early access + reference implementations for retail ops.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3317044" y="4049613"/>
            <a:ext cx="25098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53" name="Text 46"/>
          <p:cNvSpPr/>
          <p:nvPr/>
        </p:nvSpPr>
        <p:spPr>
          <a:xfrm>
            <a:off x="3317044" y="4081760"/>
            <a:ext cx="607300" cy="17678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6F42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3753259" y="4081760"/>
            <a:ext cx="2073585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Qwen-Agent at Scale: Orchestrating Multi-Step Commerce Workflows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6023297" y="2851919"/>
            <a:ext cx="2717081" cy="152161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6026869" y="2855491"/>
            <a:ext cx="2709937" cy="38777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5" descr="/tmp/h2p-fit-1788202053897-j1lu2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869" y="2855491"/>
            <a:ext cx="2709937" cy="387772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6104022" y="3319129"/>
            <a:ext cx="1094735" cy="184023"/>
          </a:xfrm>
          <a:prstGeom prst="roundRect">
            <a:avLst>
              <a:gd name="adj" fmla="val 5170807"/>
            </a:avLst>
          </a:prstGeom>
          <a:solidFill>
            <a:srgbClr val="FF005A">
              <a:alpha val="8000"/>
            </a:srgbClr>
          </a:solidFill>
          <a:ln w="7144">
            <a:solidFill>
              <a:srgbClr val="FF005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6305476" y="3371850"/>
            <a:ext cx="80612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HEADLINE STAGE</a:t>
            </a:r>
            <a:endParaRPr lang="en-US" sz="600" dirty="0"/>
          </a:p>
        </p:txBody>
      </p:sp>
      <p:sp>
        <p:nvSpPr>
          <p:cNvPr id="60" name="Text 52"/>
          <p:cNvSpPr/>
          <p:nvPr/>
        </p:nvSpPr>
        <p:spPr>
          <a:xfrm>
            <a:off x="6191176" y="337185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6126882" y="3550444"/>
            <a:ext cx="2509912" cy="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 leadership team previews the 2027 roadmap — Qwen-Next architecture, on-device, agentic capabilities.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gets: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Qwen-Next closed-beta seats + co-authored whitepaper with AliExpress.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6126882" y="4049613"/>
            <a:ext cx="2509912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63" name="Text 55"/>
          <p:cNvSpPr/>
          <p:nvPr/>
        </p:nvSpPr>
        <p:spPr>
          <a:xfrm>
            <a:off x="6126882" y="4081760"/>
            <a:ext cx="607300" cy="17678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6F42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6563097" y="4081760"/>
            <a:ext cx="2073697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Qwen-Next Preview: Inside the Roadmap with the Qwen Leadership Team</a:t>
            </a:r>
            <a:endParaRPr lang="en-US" sz="800" dirty="0"/>
          </a:p>
        </p:txBody>
      </p:sp>
      <p:sp>
        <p:nvSpPr>
          <p:cNvPr id="65" name="Shape 57"/>
          <p:cNvSpPr/>
          <p:nvPr/>
        </p:nvSpPr>
        <p:spPr>
          <a:xfrm>
            <a:off x="400050" y="4466406"/>
            <a:ext cx="8343900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400050" y="4541416"/>
            <a:ext cx="304857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FLAGSHIP EVENTS · $12K EACH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400050" y="4645000"/>
            <a:ext cx="2714625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themed around the Qwen family — Qwen-Max, Qwen-VL-Max, Qwen-Coder, Qwen3, Qwen-Agent, Qwen-Next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3218259" y="4541416"/>
            <a:ext cx="0" cy="307851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3321844" y="4541416"/>
            <a:ext cx="271719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DEDICATED SESSIONS · 1 PER EVENT</a:t>
            </a:r>
            <a:endParaRPr lang="en-US" sz="800" dirty="0"/>
          </a:p>
        </p:txBody>
      </p:sp>
      <p:sp>
        <p:nvSpPr>
          <p:cNvPr id="70" name="Text 62"/>
          <p:cNvSpPr/>
          <p:nvPr/>
        </p:nvSpPr>
        <p:spPr>
          <a:xfrm>
            <a:off x="3321844" y="4645000"/>
            <a:ext cx="2607469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AliExpress technical speakers deliver the keynote session at every flagship</a:t>
            </a:r>
            <a:endParaRPr lang="en-US" sz="800" dirty="0"/>
          </a:p>
        </p:txBody>
      </p:sp>
      <p:sp>
        <p:nvSpPr>
          <p:cNvPr id="71" name="Shape 63"/>
          <p:cNvSpPr/>
          <p:nvPr/>
        </p:nvSpPr>
        <p:spPr>
          <a:xfrm>
            <a:off x="6032897" y="4541416"/>
            <a:ext cx="0" cy="307851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6136481" y="4541416"/>
            <a:ext cx="271719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MONTHLY + 24 WHATSAPP DROPS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6136481" y="4645000"/>
            <a:ext cx="2607469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Always-on digital keeps AliExpress visible between events</a:t>
            </a:r>
            <a:endParaRPr lang="en-US" sz="619" dirty="0"/>
          </a:p>
        </p:txBody>
      </p:sp>
      <p:sp>
        <p:nvSpPr>
          <p:cNvPr id="74" name="Text 66"/>
          <p:cNvSpPr/>
          <p:nvPr/>
        </p:nvSpPr>
        <p:spPr>
          <a:xfrm>
            <a:off x="400050" y="4868466"/>
            <a:ext cx="79173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12-MONTH ANNUAL PARTNERSHIP · QWEN-EXCLUSIVE CALENDAR</a:t>
            </a:r>
            <a:endParaRPr lang="en-US" sz="800" dirty="0"/>
          </a:p>
        </p:txBody>
      </p:sp>
      <p:sp>
        <p:nvSpPr>
          <p:cNvPr id="75" name="Text 67"/>
          <p:cNvSpPr/>
          <p:nvPr/>
        </p:nvSpPr>
        <p:spPr>
          <a:xfrm>
            <a:off x="8331733" y="4868466"/>
            <a:ext cx="6243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10</a:t>
            </a:r>
            <a:endParaRPr lang="en-US" sz="800" dirty="0"/>
          </a:p>
        </p:txBody>
      </p:sp>
      <p:sp>
        <p:nvSpPr>
          <p:cNvPr id="76" name="Text 68"/>
          <p:cNvSpPr/>
          <p:nvPr/>
        </p:nvSpPr>
        <p:spPr>
          <a:xfrm>
            <a:off x="462915" y="1309083"/>
            <a:ext cx="653385" cy="196025"/>
          </a:xfrm>
          <a:prstGeom prst="roundRect">
            <a:avLst>
              <a:gd name="adj" fmla="val 14577"/>
            </a:avLst>
          </a:prstGeom>
          <a:solidFill>
            <a:srgbClr val="FF00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69"/>
          <p:cNvSpPr/>
          <p:nvPr/>
        </p:nvSpPr>
        <p:spPr>
          <a:xfrm>
            <a:off x="485775" y="1319585"/>
            <a:ext cx="6076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M2 · FEB</a:t>
            </a:r>
            <a:endParaRPr lang="en-US" sz="800" dirty="0"/>
          </a:p>
        </p:txBody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586" y="1319585"/>
            <a:ext cx="599852" cy="175022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2438586" y="1319585"/>
            <a:ext cx="5998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-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Qwen-Max</a:t>
            </a:r>
            <a:endParaRPr lang="en-US" sz="800" dirty="0"/>
          </a:p>
        </p:txBody>
      </p:sp>
      <p:sp>
        <p:nvSpPr>
          <p:cNvPr id="80" name="Text 71"/>
          <p:cNvSpPr/>
          <p:nvPr/>
        </p:nvSpPr>
        <p:spPr>
          <a:xfrm>
            <a:off x="500063" y="1310208"/>
            <a:ext cx="2524088" cy="263298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Qwen-Max Unveiled — Agentic Commerce at Scale</a:t>
            </a:r>
            <a:endParaRPr lang="en-US" sz="800" dirty="0"/>
          </a:p>
        </p:txBody>
      </p:sp>
      <p:sp>
        <p:nvSpPr>
          <p:cNvPr id="81" name="Text 72"/>
          <p:cNvSpPr/>
          <p:nvPr/>
        </p:nvSpPr>
        <p:spPr>
          <a:xfrm>
            <a:off x="3265609" y="1301940"/>
            <a:ext cx="664994" cy="196025"/>
          </a:xfrm>
          <a:prstGeom prst="roundRect">
            <a:avLst>
              <a:gd name="adj" fmla="val 14577"/>
            </a:avLst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3"/>
          <p:cNvSpPr/>
          <p:nvPr/>
        </p:nvSpPr>
        <p:spPr>
          <a:xfrm>
            <a:off x="3288469" y="1312441"/>
            <a:ext cx="6192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M4 · APR</a:t>
            </a:r>
            <a:endParaRPr lang="en-US" sz="800" dirty="0"/>
          </a:p>
        </p:txBody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171" y="1312441"/>
            <a:ext cx="735248" cy="175022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5111550" y="1312441"/>
            <a:ext cx="752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-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Qwen-VL-Max</a:t>
            </a:r>
            <a:endParaRPr lang="en-US" sz="800" dirty="0"/>
          </a:p>
        </p:txBody>
      </p:sp>
      <p:sp>
        <p:nvSpPr>
          <p:cNvPr id="85" name="Text 75"/>
          <p:cNvSpPr/>
          <p:nvPr/>
        </p:nvSpPr>
        <p:spPr>
          <a:xfrm>
            <a:off x="3302757" y="1317352"/>
            <a:ext cx="2538375" cy="263298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Commerce — From Search to Multimodal Discovery</a:t>
            </a:r>
            <a:endParaRPr lang="en-US" sz="800" dirty="0"/>
          </a:p>
        </p:txBody>
      </p:sp>
      <p:sp>
        <p:nvSpPr>
          <p:cNvPr id="86" name="Text 76"/>
          <p:cNvSpPr/>
          <p:nvPr/>
        </p:nvSpPr>
        <p:spPr>
          <a:xfrm>
            <a:off x="6075447" y="1301940"/>
            <a:ext cx="644902" cy="196025"/>
          </a:xfrm>
          <a:prstGeom prst="roundRect">
            <a:avLst>
              <a:gd name="adj" fmla="val 14577"/>
            </a:avLst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77"/>
          <p:cNvSpPr/>
          <p:nvPr/>
        </p:nvSpPr>
        <p:spPr>
          <a:xfrm>
            <a:off x="6098307" y="1312441"/>
            <a:ext cx="5991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M6 · JUN</a:t>
            </a:r>
            <a:endParaRPr lang="en-US" sz="800" dirty="0"/>
          </a:p>
        </p:txBody>
      </p:sp>
      <p:pic>
        <p:nvPicPr>
          <p:cNvPr id="8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9057" y="1312441"/>
            <a:ext cx="676312" cy="175022"/>
          </a:xfrm>
          <a:prstGeom prst="rect">
            <a:avLst/>
          </a:prstGeom>
        </p:spPr>
      </p:pic>
      <p:sp>
        <p:nvSpPr>
          <p:cNvPr id="89" name="Text 78"/>
          <p:cNvSpPr/>
          <p:nvPr/>
        </p:nvSpPr>
        <p:spPr>
          <a:xfrm>
            <a:off x="7989057" y="1312441"/>
            <a:ext cx="6763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-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Qwen-Coder</a:t>
            </a:r>
            <a:endParaRPr lang="en-US" sz="800" dirty="0"/>
          </a:p>
        </p:txBody>
      </p:sp>
      <p:sp>
        <p:nvSpPr>
          <p:cNvPr id="90" name="Text 79"/>
          <p:cNvSpPr/>
          <p:nvPr/>
        </p:nvSpPr>
        <p:spPr>
          <a:xfrm>
            <a:off x="6112594" y="1317352"/>
            <a:ext cx="2538487" cy="263298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Qwen-Coder Live — Building Commerce-Aware Agents</a:t>
            </a:r>
            <a:endParaRPr lang="en-US" sz="800" dirty="0"/>
          </a:p>
        </p:txBody>
      </p:sp>
      <p:sp>
        <p:nvSpPr>
          <p:cNvPr id="91" name="Text 80"/>
          <p:cNvSpPr/>
          <p:nvPr/>
        </p:nvSpPr>
        <p:spPr>
          <a:xfrm>
            <a:off x="455771" y="2916427"/>
            <a:ext cx="672807" cy="196025"/>
          </a:xfrm>
          <a:prstGeom prst="roundRect">
            <a:avLst>
              <a:gd name="adj" fmla="val 14577"/>
            </a:avLst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1"/>
          <p:cNvSpPr/>
          <p:nvPr/>
        </p:nvSpPr>
        <p:spPr>
          <a:xfrm>
            <a:off x="478631" y="2926928"/>
            <a:ext cx="6270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M8 · AUG</a:t>
            </a:r>
            <a:endParaRPr lang="en-US" sz="800" dirty="0"/>
          </a:p>
        </p:txBody>
      </p:sp>
      <p:pic>
        <p:nvPicPr>
          <p:cNvPr id="9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7503" y="2926928"/>
            <a:ext cx="698078" cy="175022"/>
          </a:xfrm>
          <a:prstGeom prst="rect">
            <a:avLst/>
          </a:prstGeom>
        </p:spPr>
      </p:pic>
      <p:sp>
        <p:nvSpPr>
          <p:cNvPr id="94" name="Text 82"/>
          <p:cNvSpPr/>
          <p:nvPr/>
        </p:nvSpPr>
        <p:spPr>
          <a:xfrm>
            <a:off x="2347503" y="2926928"/>
            <a:ext cx="6980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-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Qwen3 Open</a:t>
            </a:r>
            <a:endParaRPr lang="en-US" sz="800" dirty="0"/>
          </a:p>
        </p:txBody>
      </p:sp>
      <p:sp>
        <p:nvSpPr>
          <p:cNvPr id="95" name="Text 83"/>
          <p:cNvSpPr/>
          <p:nvPr/>
        </p:nvSpPr>
        <p:spPr>
          <a:xfrm>
            <a:off x="492919" y="2931840"/>
            <a:ext cx="2538375" cy="263298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Qwen3 Open Lab — Fine-Tune for Israeli Retail &amp; Hebrew</a:t>
            </a:r>
            <a:endParaRPr lang="en-US" sz="800" dirty="0"/>
          </a:p>
        </p:txBody>
      </p:sp>
      <p:sp>
        <p:nvSpPr>
          <p:cNvPr id="96" name="Text 84"/>
          <p:cNvSpPr/>
          <p:nvPr/>
        </p:nvSpPr>
        <p:spPr>
          <a:xfrm>
            <a:off x="3265609" y="2916427"/>
            <a:ext cx="730627" cy="196025"/>
          </a:xfrm>
          <a:prstGeom prst="roundRect">
            <a:avLst>
              <a:gd name="adj" fmla="val 14577"/>
            </a:avLst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85"/>
          <p:cNvSpPr/>
          <p:nvPr/>
        </p:nvSpPr>
        <p:spPr>
          <a:xfrm>
            <a:off x="3288469" y="2926928"/>
            <a:ext cx="6849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M10 · OCT</a:t>
            </a:r>
            <a:endParaRPr lang="en-US" sz="800" dirty="0"/>
          </a:p>
        </p:txBody>
      </p:sp>
      <p:pic>
        <p:nvPicPr>
          <p:cNvPr id="9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5200" y="2926928"/>
            <a:ext cx="680219" cy="175022"/>
          </a:xfrm>
          <a:prstGeom prst="rect">
            <a:avLst/>
          </a:prstGeom>
        </p:spPr>
      </p:pic>
      <p:sp>
        <p:nvSpPr>
          <p:cNvPr id="99" name="Text 86"/>
          <p:cNvSpPr/>
          <p:nvPr/>
        </p:nvSpPr>
        <p:spPr>
          <a:xfrm>
            <a:off x="5175200" y="2926928"/>
            <a:ext cx="6802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-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Qwen-Agent</a:t>
            </a:r>
            <a:endParaRPr lang="en-US" sz="800" dirty="0"/>
          </a:p>
        </p:txBody>
      </p:sp>
      <p:sp>
        <p:nvSpPr>
          <p:cNvPr id="100" name="Text 87"/>
          <p:cNvSpPr/>
          <p:nvPr/>
        </p:nvSpPr>
        <p:spPr>
          <a:xfrm>
            <a:off x="3302757" y="3051832"/>
            <a:ext cx="2733828" cy="131649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Ops — Qwen-Agent in Production</a:t>
            </a:r>
            <a:endParaRPr lang="en-US" sz="800" dirty="0"/>
          </a:p>
        </p:txBody>
      </p:sp>
      <p:sp>
        <p:nvSpPr>
          <p:cNvPr id="101" name="Text 88"/>
          <p:cNvSpPr/>
          <p:nvPr/>
        </p:nvSpPr>
        <p:spPr>
          <a:xfrm>
            <a:off x="6075447" y="2916427"/>
            <a:ext cx="729176" cy="196025"/>
          </a:xfrm>
          <a:prstGeom prst="roundRect">
            <a:avLst>
              <a:gd name="adj" fmla="val 14577"/>
            </a:avLst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89"/>
          <p:cNvSpPr/>
          <p:nvPr/>
        </p:nvSpPr>
        <p:spPr>
          <a:xfrm>
            <a:off x="6098307" y="2926928"/>
            <a:ext cx="683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M12 · DEC</a:t>
            </a:r>
            <a:endParaRPr lang="en-US" sz="800" dirty="0"/>
          </a:p>
        </p:txBody>
      </p:sp>
      <p:pic>
        <p:nvPicPr>
          <p:cNvPr id="10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0960" y="2926928"/>
            <a:ext cx="624408" cy="175022"/>
          </a:xfrm>
          <a:prstGeom prst="rect">
            <a:avLst/>
          </a:prstGeom>
        </p:spPr>
      </p:pic>
      <p:sp>
        <p:nvSpPr>
          <p:cNvPr id="104" name="Text 90"/>
          <p:cNvSpPr/>
          <p:nvPr/>
        </p:nvSpPr>
        <p:spPr>
          <a:xfrm>
            <a:off x="8040960" y="2926928"/>
            <a:ext cx="6244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-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Qwen-Next</a:t>
            </a:r>
            <a:endParaRPr lang="en-US" sz="800" dirty="0"/>
          </a:p>
        </p:txBody>
      </p:sp>
      <p:sp>
        <p:nvSpPr>
          <p:cNvPr id="105" name="Text 91"/>
          <p:cNvSpPr/>
          <p:nvPr/>
        </p:nvSpPr>
        <p:spPr>
          <a:xfrm>
            <a:off x="6112594" y="3051832"/>
            <a:ext cx="2733940" cy="131649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-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Year-Cap — The 2027 Qwen Roadmap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0875" y="571500"/>
            <a:ext cx="2571750" cy="257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72513" y="3429000"/>
            <a:ext cx="14288" cy="85725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42900"/>
            <a:ext cx="8228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5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aisalon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71308" y="342900"/>
            <a:ext cx="1615492" cy="394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00" b="1" spc="186" kern="0" dirty="0">
                <a:solidFill>
                  <a:srgbClr val="000000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/ 03</a:t>
            </a:r>
            <a:endParaRPr lang="en-US" sz="800" dirty="0"/>
          </a:p>
          <a:p>
            <a:pPr algn="r" indent="0" marL="0">
              <a:lnSpc>
                <a:spcPts val="1114"/>
              </a:lnSpc>
              <a:buNone/>
            </a:pPr>
            <a:r>
              <a:rPr lang="en-US" sz="800" b="1" spc="186" kern="0" dirty="0">
                <a:solidFill>
                  <a:srgbClr val="000000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SPONSORSHIP PROPOSAL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80939"/>
            <a:ext cx="4069794" cy="194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75"/>
              </a:lnSpc>
              <a:buNone/>
            </a:pPr>
            <a:r>
              <a:rPr lang="en-US" sz="15750" b="1" spc="-9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457200" y="3081189"/>
            <a:ext cx="571500" cy="2143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259782"/>
            <a:ext cx="5746762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VALUE PROPOSITION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457200" y="3702695"/>
            <a:ext cx="4000500" cy="38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000000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Direct, curated access to the most influential AI audience in Israel.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8237190" y="47291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TARGETED AUDIENCE ACCESS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8636000" cy="248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highly specialized, influential audience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457200" y="8871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Mirrors the core demographic breakdown of the global AI Salon network.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45803" y="1710370"/>
            <a:ext cx="1714500" cy="1714500"/>
          </a:xfrm>
          <a:prstGeom prst="ellipse">
            <a:avLst/>
          </a:prstGeom>
          <a:solidFill>
            <a:srgbClr val="004F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4629" y="3560601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00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4629" y="3539170"/>
            <a:ext cx="1317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Founders &amp; Builders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53059" y="3560601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53059" y="3539170"/>
            <a:ext cx="14352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Investors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4629" y="3721336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4F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4629" y="3699904"/>
            <a:ext cx="1317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Technologists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53059" y="3721336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AC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53059" y="3699904"/>
            <a:ext cx="1317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Diverse Ecosystem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4314" y="3917789"/>
            <a:ext cx="18975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i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Salon Tel Aviv community composition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091918" y="1387227"/>
            <a:ext cx="2411685" cy="1366689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91918" y="1390799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0031" y="1387227"/>
            <a:ext cx="0" cy="1366689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91918" y="2750344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6205" y="1387227"/>
            <a:ext cx="0" cy="1366689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7655" y="1537246"/>
            <a:ext cx="2061642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4277655" y="1988641"/>
            <a:ext cx="206164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Founders &amp; Builders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4277655" y="2200052"/>
            <a:ext cx="2061642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Entrepreneurs and core developers building cutting-edge technologies. The bleeding edge of Israeli AI.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17903" y="1387227"/>
            <a:ext cx="2411685" cy="1366689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617903" y="1390799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26017" y="1387227"/>
            <a:ext cx="0" cy="1366689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17903" y="2750344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2191" y="1387227"/>
            <a:ext cx="0" cy="1366689"/>
          </a:xfrm>
          <a:prstGeom prst="line">
            <a:avLst/>
          </a:prstGeom>
          <a:noFill/>
          <a:ln w="28575">
            <a:solidFill>
              <a:srgbClr val="00E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641" y="1537246"/>
            <a:ext cx="2061642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00E6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6803641" y="1988641"/>
            <a:ext cx="206164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Investors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6803641" y="2200052"/>
            <a:ext cx="2061642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venture capitalists and institutional investors seeking high-growth opportunities in early-stage AI.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91918" y="2868216"/>
            <a:ext cx="2411685" cy="1501304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91918" y="2871788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0031" y="2868216"/>
            <a:ext cx="0" cy="1501304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91918" y="4365947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06205" y="2868216"/>
            <a:ext cx="0" cy="1501304"/>
          </a:xfrm>
          <a:prstGeom prst="line">
            <a:avLst/>
          </a:prstGeom>
          <a:noFill/>
          <a:ln w="28575">
            <a:solidFill>
              <a:srgbClr val="004F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77655" y="3018234"/>
            <a:ext cx="2061642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004F9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4277655" y="3469630"/>
            <a:ext cx="2171370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Technologists &amp; Engineers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4277655" y="3681040"/>
            <a:ext cx="2061642" cy="47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Skilled engineers and AI professionals providing direct access to top-tier technical talent.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17903" y="2868216"/>
            <a:ext cx="2411685" cy="1501304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617903" y="2871788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6017" y="2868216"/>
            <a:ext cx="0" cy="1501304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17903" y="4365947"/>
            <a:ext cx="2411685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32191" y="2868216"/>
            <a:ext cx="0" cy="1501304"/>
          </a:xfrm>
          <a:prstGeom prst="line">
            <a:avLst/>
          </a:prstGeom>
          <a:noFill/>
          <a:ln w="28575">
            <a:solidFill>
              <a:srgbClr val="FFAC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03641" y="3018234"/>
            <a:ext cx="2061642" cy="410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126" kern="0" dirty="0">
                <a:solidFill>
                  <a:srgbClr val="FFAC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3150" dirty="0"/>
          </a:p>
        </p:txBody>
      </p:sp>
      <p:sp>
        <p:nvSpPr>
          <p:cNvPr id="45" name="Text 43"/>
          <p:cNvSpPr/>
          <p:nvPr/>
        </p:nvSpPr>
        <p:spPr>
          <a:xfrm>
            <a:off x="6803641" y="3469630"/>
            <a:ext cx="206164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Diverse Ecosystem</a:t>
            </a:r>
            <a:endParaRPr lang="en-US" sz="1013" dirty="0"/>
          </a:p>
        </p:txBody>
      </p:sp>
      <p:sp>
        <p:nvSpPr>
          <p:cNvPr id="46" name="Text 44"/>
          <p:cNvSpPr/>
          <p:nvPr/>
        </p:nvSpPr>
        <p:spPr>
          <a:xfrm>
            <a:off x="6803641" y="3681040"/>
            <a:ext cx="2061642" cy="53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University researchers, corporate innovators, accelerator managers, and small business owners shaping the broader ecosystem.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843463"/>
            <a:ext cx="7765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AUDIENCE COMPOSITION · AI SALON NETWORK-WIDE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37190" y="48434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4330" y="285750"/>
            <a:ext cx="2849670" cy="15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742" kern="0" dirty="0">
                <a:solidFill>
                  <a:srgbClr val="FFFFFF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endParaRPr lang="en-US" sz="12375" dirty="0"/>
          </a:p>
        </p:txBody>
      </p:sp>
      <p:sp>
        <p:nvSpPr>
          <p:cNvPr id="3" name="Shape 1"/>
          <p:cNvSpPr/>
          <p:nvPr/>
        </p:nvSpPr>
        <p:spPr>
          <a:xfrm>
            <a:off x="2053605" y="2033290"/>
            <a:ext cx="0" cy="10571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19364" y="2033290"/>
            <a:ext cx="0" cy="10571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4057" y="2033290"/>
            <a:ext cx="0" cy="10571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04778"/>
            <a:ext cx="8229600" cy="7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58337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75" dirty="0">
                <a:solidFill>
                  <a:srgbClr val="00E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3375" dirty="0"/>
          </a:p>
        </p:txBody>
      </p:sp>
      <p:sp>
        <p:nvSpPr>
          <p:cNvPr id="8" name="Text 6"/>
          <p:cNvSpPr/>
          <p:nvPr/>
        </p:nvSpPr>
        <p:spPr>
          <a:xfrm>
            <a:off x="971550" y="3583372"/>
            <a:ext cx="57721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i="1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“A single Tel Aviv partnership plugs AliExpress into a worldwide AI community — Tel Aviv is the local anchor, the global network is the multiplier.”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57200" y="4843463"/>
            <a:ext cx="7765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AISALON GLOBAL NETWORK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37190" y="48434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00E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ECOSYSTEM ASSOCIATION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600075"/>
            <a:ext cx="7072313" cy="7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prestigious global network, by the numbers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457200" y="1364679"/>
            <a:ext cx="5429250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Partnering with AI Salon Tel Aviv aligns AliExpress with a globally-recognized tech community spanning 59 chapters across 5 continents.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33290"/>
            <a:ext cx="2137053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71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59+</a:t>
            </a:r>
            <a:endParaRPr lang="en-US" sz="4275" dirty="0"/>
          </a:p>
        </p:txBody>
      </p:sp>
      <p:sp>
        <p:nvSpPr>
          <p:cNvPr id="15" name="Text 13"/>
          <p:cNvSpPr/>
          <p:nvPr/>
        </p:nvSpPr>
        <p:spPr>
          <a:xfrm>
            <a:off x="457200" y="2648992"/>
            <a:ext cx="1785149" cy="294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CHAPTERS WORLDWIDE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970461"/>
            <a:ext cx="15653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Across 5 continents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72945" y="2033290"/>
            <a:ext cx="1669929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71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500+</a:t>
            </a:r>
            <a:endParaRPr lang="en-US" sz="4275" dirty="0"/>
          </a:p>
        </p:txBody>
      </p:sp>
      <p:sp>
        <p:nvSpPr>
          <p:cNvPr id="18" name="Text 16"/>
          <p:cNvSpPr/>
          <p:nvPr/>
        </p:nvSpPr>
        <p:spPr>
          <a:xfrm>
            <a:off x="2257202" y="2648992"/>
            <a:ext cx="1501415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EVENTS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57202" y="2831157"/>
            <a:ext cx="150141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Hosted since 2024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39569" y="2033290"/>
            <a:ext cx="2067133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71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130K+</a:t>
            </a:r>
            <a:endParaRPr lang="en-US" sz="4275" dirty="0"/>
          </a:p>
        </p:txBody>
      </p:sp>
      <p:sp>
        <p:nvSpPr>
          <p:cNvPr id="21" name="Text 19"/>
          <p:cNvSpPr/>
          <p:nvPr/>
        </p:nvSpPr>
        <p:spPr>
          <a:xfrm>
            <a:off x="4222961" y="2648992"/>
            <a:ext cx="1900349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ATTENDEE REGISTRATIONS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22961" y="2831157"/>
            <a:ext cx="20100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Cumulative community reach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30939" y="2033290"/>
            <a:ext cx="2355426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71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1,500+</a:t>
            </a:r>
            <a:endParaRPr lang="en-US" sz="4275" dirty="0"/>
          </a:p>
        </p:txBody>
      </p:sp>
      <p:sp>
        <p:nvSpPr>
          <p:cNvPr id="24" name="Text 22"/>
          <p:cNvSpPr/>
          <p:nvPr/>
        </p:nvSpPr>
        <p:spPr>
          <a:xfrm>
            <a:off x="6587654" y="2648992"/>
            <a:ext cx="2041996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PARTICIPATING STARTUPS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7654" y="2831157"/>
            <a:ext cx="204199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community members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PRESTIGIOUS GLOBAL PEER GROUP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075"/>
            <a:ext cx="6915150" cy="66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250" b="1" spc="-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AliExpress joins an elite roster of tech leaders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302841"/>
            <a:ext cx="8229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 and present global partners that have anchored AI Salon initiatives worldwide.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0772" y="1735038"/>
            <a:ext cx="2621756" cy="835819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8781" y="191720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E6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871306" y="2174379"/>
            <a:ext cx="180057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spc="-2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Amazon Web Services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261122" y="1735038"/>
            <a:ext cx="2621756" cy="835819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9131" y="191720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00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828" dirty="0"/>
          </a:p>
        </p:txBody>
      </p:sp>
      <p:sp>
        <p:nvSpPr>
          <p:cNvPr id="10" name="Text 8"/>
          <p:cNvSpPr/>
          <p:nvPr/>
        </p:nvSpPr>
        <p:spPr>
          <a:xfrm>
            <a:off x="3767058" y="2174379"/>
            <a:ext cx="160977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spc="-2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for Startups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61472" y="1735038"/>
            <a:ext cx="2621756" cy="835819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79481" y="191720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F9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3" name="Text 11"/>
          <p:cNvSpPr/>
          <p:nvPr/>
        </p:nvSpPr>
        <p:spPr>
          <a:xfrm>
            <a:off x="6468839" y="2174379"/>
            <a:ext cx="180702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spc="-2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for Startups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0772" y="2749451"/>
            <a:ext cx="2621756" cy="1007269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78781" y="301734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20A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6" name="Text 14"/>
          <p:cNvSpPr/>
          <p:nvPr/>
        </p:nvSpPr>
        <p:spPr>
          <a:xfrm>
            <a:off x="1442466" y="3274516"/>
            <a:ext cx="65836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spc="-2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Appier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261122" y="2749451"/>
            <a:ext cx="2621756" cy="1007269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79131" y="291018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AC3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828" dirty="0"/>
          </a:p>
        </p:txBody>
      </p:sp>
      <p:sp>
        <p:nvSpPr>
          <p:cNvPr id="19" name="Text 17"/>
          <p:cNvSpPr/>
          <p:nvPr/>
        </p:nvSpPr>
        <p:spPr>
          <a:xfrm>
            <a:off x="3436144" y="3167360"/>
            <a:ext cx="22717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spc="-2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Dubai International Finance Center</a:t>
            </a:r>
            <a:endParaRPr lang="en-US" sz="112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0" y="2745879"/>
            <a:ext cx="2628900" cy="101441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279481" y="301734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828" dirty="0"/>
          </a:p>
        </p:txBody>
      </p:sp>
      <p:sp>
        <p:nvSpPr>
          <p:cNvPr id="22" name="Text 19"/>
          <p:cNvSpPr/>
          <p:nvPr/>
        </p:nvSpPr>
        <p:spPr>
          <a:xfrm>
            <a:off x="6892147" y="3274516"/>
            <a:ext cx="96040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spc="-2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AliExpress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857375" y="3974604"/>
            <a:ext cx="5429250" cy="4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8"/>
              </a:lnSpc>
              <a:buNone/>
            </a:pPr>
            <a:r>
              <a:rPr lang="en-US" sz="1013" i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AliExpress would be the </a:t>
            </a:r>
            <a:pPr algn="ctr" indent="0" marL="0">
              <a:lnSpc>
                <a:spcPts val="1468"/>
              </a:lnSpc>
              <a:buNone/>
            </a:pPr>
            <a:r>
              <a:rPr lang="en-US" sz="1013" b="1" i="1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retail-commerce platform</a:t>
            </a:r>
            <a:pPr algn="ctr" indent="0" marL="0">
              <a:lnSpc>
                <a:spcPts val="1468"/>
              </a:lnSpc>
              <a:buNone/>
            </a:pPr>
            <a:r>
              <a:rPr lang="en-US" sz="1013" i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anchor an AI Salon Tel Aviv partnership — a category-defining position.</a:t>
            </a:r>
            <a:endParaRPr lang="en-US" sz="1013" dirty="0"/>
          </a:p>
        </p:txBody>
      </p:sp>
      <p:sp>
        <p:nvSpPr>
          <p:cNvPr id="24" name="Text 21"/>
          <p:cNvSpPr/>
          <p:nvPr/>
        </p:nvSpPr>
        <p:spPr>
          <a:xfrm>
            <a:off x="457200" y="4843463"/>
            <a:ext cx="7765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PEER SPONSORS · GLOBAL AI SALON NETWORK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37190" y="48434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000875" y="571500"/>
            <a:ext cx="2714625" cy="2714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72375" y="1285875"/>
            <a:ext cx="1428750" cy="1428750"/>
          </a:xfrm>
          <a:prstGeom prst="rect">
            <a:avLst/>
          </a:prstGeom>
          <a:solidFill>
            <a:srgbClr val="FF005A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672513" y="3429000"/>
            <a:ext cx="14288" cy="8572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42900"/>
            <a:ext cx="8228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aisalon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071308" y="342900"/>
            <a:ext cx="1615492" cy="394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00" b="1" spc="186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/ 03</a:t>
            </a:r>
            <a:endParaRPr lang="en-US" sz="800" dirty="0"/>
          </a:p>
          <a:p>
            <a:pPr algn="r" indent="0" marL="0">
              <a:lnSpc>
                <a:spcPts val="1114"/>
              </a:lnSpc>
              <a:buNone/>
            </a:pPr>
            <a:r>
              <a:rPr lang="en-US" sz="800" b="1" spc="186" kern="0" dirty="0">
                <a:solidFill>
                  <a:srgbClr val="FFFFFF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SPONSORSHIP PROPOSAL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37190" y="47291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FFFFFF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080939"/>
            <a:ext cx="4069794" cy="194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75"/>
              </a:lnSpc>
              <a:buNone/>
            </a:pPr>
            <a:r>
              <a:rPr lang="en-US" sz="15750" b="1" spc="-94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81189"/>
            <a:ext cx="571500" cy="214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259782"/>
            <a:ext cx="375794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9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ECONOMICS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457200" y="3702695"/>
            <a:ext cx="4143375" cy="38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Predictable, high-value asset allocation over a committed 12-month term.</a:t>
            </a:r>
            <a:endParaRPr lang="en-US" sz="101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INVESTMENT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28638"/>
            <a:ext cx="8636000" cy="293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7"/>
              </a:lnSpc>
              <a:buNone/>
            </a:pPr>
            <a:r>
              <a:rPr lang="en-US" sz="2025" b="1" spc="-4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 predictable 12-month commitment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849213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for maximum ROI across bi-monthly activations.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56395"/>
            <a:ext cx="4153662" cy="49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825" b="1" spc="-153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$6K</a:t>
            </a:r>
            <a:endParaRPr lang="en-US" sz="3825" dirty="0"/>
          </a:p>
        </p:txBody>
      </p:sp>
      <p:sp>
        <p:nvSpPr>
          <p:cNvPr id="6" name="Text 4"/>
          <p:cNvSpPr/>
          <p:nvPr/>
        </p:nvSpPr>
        <p:spPr>
          <a:xfrm>
            <a:off x="457200" y="1689274"/>
            <a:ext cx="37642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2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MONTH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61122" y="1156395"/>
            <a:ext cx="0" cy="661467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6144" y="1156395"/>
            <a:ext cx="2450306" cy="49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825" b="1" spc="-153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3825" dirty="0"/>
          </a:p>
        </p:txBody>
      </p:sp>
      <p:sp>
        <p:nvSpPr>
          <p:cNvPr id="9" name="Text 7"/>
          <p:cNvSpPr/>
          <p:nvPr/>
        </p:nvSpPr>
        <p:spPr>
          <a:xfrm>
            <a:off x="3436144" y="1689274"/>
            <a:ext cx="2450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2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 TERM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61472" y="1156395"/>
            <a:ext cx="0" cy="661467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494" y="1156395"/>
            <a:ext cx="2450306" cy="49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825" b="1" spc="-153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$72K</a:t>
            </a:r>
            <a:endParaRPr lang="en-US" sz="3825" dirty="0"/>
          </a:p>
        </p:txBody>
      </p:sp>
      <p:sp>
        <p:nvSpPr>
          <p:cNvPr id="12" name="Text 10"/>
          <p:cNvSpPr/>
          <p:nvPr/>
        </p:nvSpPr>
        <p:spPr>
          <a:xfrm>
            <a:off x="6236494" y="1689274"/>
            <a:ext cx="2450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2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ANNUAL INVESTMENT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946449"/>
            <a:ext cx="35275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005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FLAGSHIP EVENTS</a:t>
            </a:r>
            <a:pPr algn="l" indent="0" marL="0">
              <a:lnSpc>
                <a:spcPts val="1013"/>
              </a:lnSpc>
              <a:buNone/>
            </a:pPr>
            <a:r>
              <a:rPr lang="en-US" sz="675" spc="54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$12K VALUE-EQUIVALENT PER ACTIVATION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020480" y="194644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B5B5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26074" y="1946449"/>
            <a:ext cx="1746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EMAIL BLASTS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22900" y="194644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B5B5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8494" y="1946449"/>
            <a:ext cx="1967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BI-MONTHLY WHATSAPP UPDATES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21364" y="1946449"/>
            <a:ext cx="1165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B5B5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146474"/>
            <a:ext cx="35275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PERSISTENT CHAPTER WEBPAGE BRANDING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460799"/>
            <a:ext cx="8229600" cy="7144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2639392"/>
            <a:ext cx="687323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00E6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825130"/>
            <a:ext cx="5431438" cy="24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 the Israeli AI ecosystem.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457200" y="3134878"/>
            <a:ext cx="3429000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propose a 30-minute alignment call to finalize the 12-month activation calendar, confirm the AliExpress thought-leadership speakers, and lock the first flagship event date. The partnership can launch within 30 days of signature.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457200" y="3892116"/>
            <a:ext cx="2427312" cy="271463"/>
          </a:xfrm>
          <a:prstGeom prst="roundRect">
            <a:avLst>
              <a:gd name="adj" fmla="val 3505257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7238" y="3977841"/>
            <a:ext cx="1998687" cy="128016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0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BOOK A 30-MIN ALIGNMENT CALL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5788" y="39706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623471" y="2639392"/>
            <a:ext cx="3291818" cy="152418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623471" y="2642964"/>
            <a:ext cx="3291818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1717" y="2639392"/>
            <a:ext cx="0" cy="1524186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471" y="4160007"/>
            <a:ext cx="3291818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37758" y="2639392"/>
            <a:ext cx="0" cy="1524186"/>
          </a:xfrm>
          <a:prstGeom prst="line">
            <a:avLst/>
          </a:prstGeom>
          <a:noFill/>
          <a:ln w="28575">
            <a:solidFill>
              <a:srgbClr val="FF005A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0957" y="2775124"/>
            <a:ext cx="228600" cy="2286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823496" y="2803699"/>
            <a:ext cx="2913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03" kern="0" dirty="0">
                <a:solidFill>
                  <a:srgbClr val="FF005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823496" y="3003724"/>
            <a:ext cx="2913199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Salon Tel Aviv</a:t>
            </a:r>
            <a:endParaRPr lang="en-US" sz="1013" dirty="0"/>
          </a:p>
        </p:txBody>
      </p:sp>
      <p:sp>
        <p:nvSpPr>
          <p:cNvPr id="35" name="Text 32"/>
          <p:cNvSpPr/>
          <p:nvPr/>
        </p:nvSpPr>
        <p:spPr>
          <a:xfrm>
            <a:off x="5823496" y="3225180"/>
            <a:ext cx="2913199" cy="15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Eze Caz · Chapter Lead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823496" y="3436590"/>
            <a:ext cx="291319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FF0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eze@massapro.com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823496" y="3615184"/>
            <a:ext cx="2913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aisalon.massapro.com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57200" y="4843463"/>
            <a:ext cx="3115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SPONSORSHIP PROPOSAL · AUGUST 2026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237190" y="4843463"/>
            <a:ext cx="687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2026-08-31T18:47:37Z</dcterms:created>
  <dcterms:modified xsi:type="dcterms:W3CDTF">2026-08-31T18:47:37Z</dcterms:modified>
</cp:coreProperties>
</file>