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Open with the strategic narrative — AI Salon Tel Aviv is the central hub for Israeli AI talent.
- AliExpress has the opportunity to anchor this hub for 12 months.
- Frame as an active investment in the heart of the Israeli tech ecosystem — not a marketing spend.
- Pause briefly after the headline so the visual weight of "The AI Ecosystem Engine" lands before continuing.
- Signal the deck arc: Partnership → Value Proposition → Economics.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Section walks through the structure of the partnership.
- Six bi-monthly flagship events anchor the year; top billing on every chapter communication.
- Exclusive 20-minute thought-leadership slot per event for an AliExpress technical or executive voice.
- Always-on digital reach between events — monthly email blast + bi-monthly WhatsApp community update.
- Frame the package as an active investment, not a marketing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Walk through each of the 6 pillars briefly — they form one integrated system, not a list of disconnected line items.
- Physical events anchor the relationship; digital channels sustain momentum between events; merch + content extends the brand beyond the room.
- Emphasize that thought-leadership slots are explicitly NOT sales pitches — they are technical insights positioning AliExpress as a serious partner.
- Highlight Pillar 02 (Top-Tier Brand Billing) — naming rights on every email, social post, Luma/Meetup page, and opening slide.
- Pillar 04 (Community Digital Reach) is the always-on engine: monthly email + bi-monthly WhatsApp keeps AliExpress continuously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The timeline shows the rhythm: 6 flagship events anchor the year, with always-on digital channels in between.
- Cadence is bi-monthly — M2, M4, M6, M8, M10, M12 — so AliExpress is continuously visible to the community, not just at events.
- Each event has a distinct theme (Opening Keynote, AI Insight Forum, Community Connect, Builder Showcase, Global Bridge, Year-Cap Summit) to keep the audience engaged.
- Always-on digital layer = 12 monthly email blasts + 24 bi-monthly WhatsApp updates.
- $12K value-equivalent per flagship activation — emphasize the predictability and rhythm of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This section answers the question: who exactly does AliExpress reach through this partnership?
- The audience is highly specialized — investors, founders, technologists, and ecosystem players.
- We will break down the exact demographics and the global network this partnership plugs AliExpress into.
- Mirror of slide 02 layout — but in AIS Cyan with black typography (opposite color per brand book §8).
- Next slide drills into the audience composition: 40% founders/builders, 20% investors, 20% engineers, 20% diverse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- 40% of the audience are founders and builders — the people building the next generation of retail-tech, commerce infrastructure, and ML platforms.
- Another 20% are investors who fund them — direct line into early-stage AI capital flows.
- Remaining 40% split between engineers (20%) and the broader ecosystem (research, corporate innovation, accelerators, SMBs).
- This is not a generic tech audience — it is the most curated AI community in Israel.
- Demographics mirror the global AI Salon network, so the Tel Aviv chapter inherits a proven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These numbers are the leverage play — AliExpress is sponsoring Tel Aviv, but really buying into a 59-chapter global network.
- A Tel Aviv keynote speaker's content can be amplified across the entire global AI Salon community.
- 130K+ cumulative registrations is the reach AliExpress is buying into; 1,500+ participating startups signals real density.
- 500+ global events since 2024 validates the network's operational throughput.
- Frame Tel Aviv as the local anchor; the global network is the multiplier.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Peer group is the social proof: AWS, Google for Startups, Microsoft for Startups, Appier, and Dubai International Finance Center have all partnered with AI Salon globally.
- AliExpress would be the first retail-commerce platform to anchor a Tel Aviv chapter partnership — a category-defining position.
- The brand halo from this peer set positions AliExpress alongside cloud and AI infrastructure leaders.
- Use this slide to land the "you'd be in elite company, and uniquely so" narrative.
- Lead into Section 03: this positioning justifies the investment math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The final section is the financial framework — intentionally simple and predictable.
- Flat monthly commitment, 12-month term, total $72K.
- Allocation maps every dollar to either a flagship event or always-on digital value.
- Mirror of slides 02 and 05 layout, but on AIS Black with a gradient divider bar.
- Lead into the closing slide: investment summary + contact + 30-minute alignment call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Close with the ask: $6K/month, 12-month term, $72K total annual investment.
- Walk through allocation: 6 flagship events at $12K value-equivalent each, plus always-on digital (email + WhatsApp) and persistent webpage branding.
- Propose a 30-minute alignment call to finalize the calendar, confirm AliExpress thought-leadership speakers, and lock the first event date.
- The partnership can launch within 30 days of signature — emphasize speed and low-friction onboarding.
- Hand off contact: Eze Caz, Chapter Lead, eze@massapro.com, aisalon.massapro.com.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5486400" cy="51435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00050"/>
            <a:ext cx="342900" cy="3429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842963"/>
            <a:ext cx="457200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b="1" spc="-72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aisalon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71575"/>
            <a:ext cx="4681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69" kern="0" dirty="0">
                <a:solidFill>
                  <a:srgbClr val="00E6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EMPOWERING AI CONNECTIONS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528763"/>
            <a:ext cx="4681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TEL AVIV CHAPTER · SPONSORSHIP PROPOSAL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00225"/>
            <a:ext cx="4286250" cy="1990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38"/>
              </a:lnSpc>
              <a:buNone/>
            </a:pPr>
            <a:r>
              <a:rPr lang="en-US" sz="4838" b="1" spc="-193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AI Ecosystem Engine</a:t>
            </a:r>
            <a:endParaRPr lang="en-US" sz="4838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786188"/>
            <a:ext cx="457200" cy="2857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3957638"/>
            <a:ext cx="3429000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 × AI Salon Tel Aviv — a 12-month exclusive partnership anchoring AliExpress at the heart of Israel's AI community.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7200" y="4917579"/>
            <a:ext cx="468172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55" kern="0" dirty="0">
                <a:solidFill>
                  <a:srgbClr val="FFFFFF">
                    <a:alpha val="5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PREPARED FOR ALIEXPRESS · AUGUST 2026</a:t>
            </a:r>
            <a:endParaRPr lang="en-US" sz="800" dirty="0"/>
          </a:p>
        </p:txBody>
      </p:sp>
      <p:pic>
        <p:nvPicPr>
          <p:cNvPr id="11" name="Image 2" descr="/tmp/h2p-fit-1788185035541-wnj5w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0"/>
            <a:ext cx="3657600" cy="514350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0"/>
            <a:ext cx="36576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00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863600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350" b="1" spc="-54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aisalon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457200" y="1099468"/>
            <a:ext cx="8109049" cy="1944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75"/>
              </a:lnSpc>
              <a:buNone/>
            </a:pPr>
            <a:r>
              <a:rPr lang="en-US" sz="15750" b="1" spc="-945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5750" dirty="0"/>
          </a:p>
        </p:txBody>
      </p:sp>
      <p:sp>
        <p:nvSpPr>
          <p:cNvPr id="4" name="Text 2"/>
          <p:cNvSpPr/>
          <p:nvPr/>
        </p:nvSpPr>
        <p:spPr>
          <a:xfrm>
            <a:off x="457200" y="3056855"/>
            <a:ext cx="571500" cy="2143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3235449"/>
            <a:ext cx="6142605" cy="5092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13"/>
              </a:lnSpc>
              <a:buNone/>
            </a:pPr>
            <a:r>
              <a:rPr lang="en-US" sz="2475" b="1" spc="99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PARTNERSHIP</a:t>
            </a:r>
            <a:endParaRPr lang="en-US" sz="2475" dirty="0"/>
          </a:p>
        </p:txBody>
      </p:sp>
      <p:sp>
        <p:nvSpPr>
          <p:cNvPr id="6" name="Text 4"/>
          <p:cNvSpPr/>
          <p:nvPr/>
        </p:nvSpPr>
        <p:spPr>
          <a:xfrm>
            <a:off x="457200" y="3864099"/>
            <a:ext cx="5068156" cy="19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12-month exclusive anchor partnership — engineered for ecosystem access.</a:t>
            </a:r>
            <a:endParaRPr lang="en-US" sz="1013" dirty="0"/>
          </a:p>
        </p:txBody>
      </p:sp>
      <p:sp>
        <p:nvSpPr>
          <p:cNvPr id="7" name="Text 5"/>
          <p:cNvSpPr/>
          <p:nvPr/>
        </p:nvSpPr>
        <p:spPr>
          <a:xfrm>
            <a:off x="8237190" y="4814888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FFFFFF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863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SPONSOR PLAN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0075"/>
            <a:ext cx="8636000" cy="356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2475" b="1" spc="-49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Six activation pillars across 12 months</a:t>
            </a:r>
            <a:endParaRPr lang="en-US" sz="2475" dirty="0"/>
          </a:p>
        </p:txBody>
      </p:sp>
      <p:sp>
        <p:nvSpPr>
          <p:cNvPr id="4" name="Text 2"/>
          <p:cNvSpPr/>
          <p:nvPr/>
        </p:nvSpPr>
        <p:spPr>
          <a:xfrm>
            <a:off x="457200" y="1015752"/>
            <a:ext cx="5143500" cy="41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Each pillar is engineered for maximum integration across the Tel Aviv tech community — bi-monthly physical events plus always-on digital channels.</a:t>
            </a:r>
            <a:endParaRPr lang="en-US" sz="1013" dirty="0"/>
          </a:p>
        </p:txBody>
      </p:sp>
      <p:sp>
        <p:nvSpPr>
          <p:cNvPr id="5" name="Text 3"/>
          <p:cNvSpPr/>
          <p:nvPr/>
        </p:nvSpPr>
        <p:spPr>
          <a:xfrm>
            <a:off x="457200" y="1587252"/>
            <a:ext cx="2666963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590824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20591" y="1587252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3164458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1488" y="1587252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7225" y="1751558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688" dirty="0"/>
          </a:p>
        </p:txBody>
      </p:sp>
      <p:sp>
        <p:nvSpPr>
          <p:cNvPr id="11" name="Text 9"/>
          <p:cNvSpPr/>
          <p:nvPr/>
        </p:nvSpPr>
        <p:spPr>
          <a:xfrm>
            <a:off x="657225" y="2008733"/>
            <a:ext cx="2398072" cy="1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Bi-Monthly Event Sponsorship</a:t>
            </a:r>
            <a:endParaRPr lang="en-US" sz="1013" dirty="0"/>
          </a:p>
        </p:txBody>
      </p:sp>
      <p:sp>
        <p:nvSpPr>
          <p:cNvPr id="12" name="Text 10"/>
          <p:cNvSpPr/>
          <p:nvPr/>
        </p:nvSpPr>
        <p:spPr>
          <a:xfrm>
            <a:off x="657225" y="2220144"/>
            <a:ext cx="2288344" cy="63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 presents 6 flagship AI Salon Tel Aviv events across 12 months — every two months, the community convenes under the AliExpress banner.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57225" y="2885852"/>
            <a:ext cx="2288344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38463" y="1587252"/>
            <a:ext cx="2666963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238463" y="1590824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01854" y="1587252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38463" y="3164458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52750" y="1587252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38488" y="1751558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★</a:t>
            </a:r>
            <a:endParaRPr lang="en-US" sz="1688" dirty="0"/>
          </a:p>
        </p:txBody>
      </p:sp>
      <p:sp>
        <p:nvSpPr>
          <p:cNvPr id="20" name="Text 18"/>
          <p:cNvSpPr/>
          <p:nvPr/>
        </p:nvSpPr>
        <p:spPr>
          <a:xfrm>
            <a:off x="3438488" y="2008733"/>
            <a:ext cx="2288344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Top-Tier Brand Billing</a:t>
            </a:r>
            <a:endParaRPr lang="en-US" sz="1013" dirty="0"/>
          </a:p>
        </p:txBody>
      </p:sp>
      <p:sp>
        <p:nvSpPr>
          <p:cNvPr id="21" name="Text 19"/>
          <p:cNvSpPr/>
          <p:nvPr/>
        </p:nvSpPr>
        <p:spPr>
          <a:xfrm>
            <a:off x="3438488" y="2220144"/>
            <a:ext cx="2288344" cy="477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“AI Salon Tel Aviv, Presented by AliExpress” on every email, social post, Luma/Meetup page, and opening slide.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438488" y="2740856"/>
            <a:ext cx="22883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19726" y="1587252"/>
            <a:ext cx="2667074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019726" y="1590824"/>
            <a:ext cx="2667074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3228" y="1587252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19726" y="3164458"/>
            <a:ext cx="2667074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34013" y="1587252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9751" y="1751558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1688" dirty="0"/>
          </a:p>
        </p:txBody>
      </p:sp>
      <p:sp>
        <p:nvSpPr>
          <p:cNvPr id="29" name="Text 27"/>
          <p:cNvSpPr/>
          <p:nvPr/>
        </p:nvSpPr>
        <p:spPr>
          <a:xfrm>
            <a:off x="6219751" y="2008733"/>
            <a:ext cx="2288456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Thought Leadership Slots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6219751" y="2220144"/>
            <a:ext cx="2288456" cy="63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20-minute “AI Insight” talk per event from an AliExpress technical/executive expert — retail-tech, global commerce, or ML infrastructure.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219751" y="2885852"/>
            <a:ext cx="2288456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03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3282330"/>
            <a:ext cx="2666963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457200" y="3285902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20591" y="3282330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859536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1488" y="3282330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7225" y="3446636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1688" dirty="0"/>
          </a:p>
        </p:txBody>
      </p:sp>
      <p:sp>
        <p:nvSpPr>
          <p:cNvPr id="38" name="Text 36"/>
          <p:cNvSpPr/>
          <p:nvPr/>
        </p:nvSpPr>
        <p:spPr>
          <a:xfrm>
            <a:off x="657225" y="3703811"/>
            <a:ext cx="2288344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Community Digital Reach</a:t>
            </a:r>
            <a:endParaRPr lang="en-US" sz="1013" dirty="0"/>
          </a:p>
        </p:txBody>
      </p:sp>
      <p:sp>
        <p:nvSpPr>
          <p:cNvPr id="39" name="Text 37"/>
          <p:cNvSpPr/>
          <p:nvPr/>
        </p:nvSpPr>
        <p:spPr>
          <a:xfrm>
            <a:off x="657225" y="3915221"/>
            <a:ext cx="2288344" cy="477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Monthly email blast + bi-monthly WhatsApp community update featuring AliExpress tools, dev integrations, and exclusive advantages.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57225" y="4435934"/>
            <a:ext cx="22883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04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238463" y="3282330"/>
            <a:ext cx="2666963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3238463" y="3285902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01854" y="3282330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38463" y="4859536"/>
            <a:ext cx="2666963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52750" y="3282330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38488" y="3446636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1688" dirty="0"/>
          </a:p>
        </p:txBody>
      </p:sp>
      <p:sp>
        <p:nvSpPr>
          <p:cNvPr id="47" name="Text 45"/>
          <p:cNvSpPr/>
          <p:nvPr/>
        </p:nvSpPr>
        <p:spPr>
          <a:xfrm>
            <a:off x="3438488" y="3703811"/>
            <a:ext cx="2398072" cy="1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Opening + Networking Access</a:t>
            </a:r>
            <a:endParaRPr lang="en-US" sz="1013" dirty="0"/>
          </a:p>
        </p:txBody>
      </p:sp>
      <p:sp>
        <p:nvSpPr>
          <p:cNvPr id="48" name="Text 46"/>
          <p:cNvSpPr/>
          <p:nvPr/>
        </p:nvSpPr>
        <p:spPr>
          <a:xfrm>
            <a:off x="3438488" y="3915221"/>
            <a:ext cx="2288344" cy="477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60-second Community Welcome spot per event, private pre-event briefings with speakers, 5 complimentary tickets per event.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438488" y="4435934"/>
            <a:ext cx="22883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05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019726" y="3282330"/>
            <a:ext cx="2667074" cy="158077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6019726" y="3285902"/>
            <a:ext cx="2667074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3228" y="3282330"/>
            <a:ext cx="0" cy="1580778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19726" y="4859536"/>
            <a:ext cx="2667074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34013" y="3282330"/>
            <a:ext cx="0" cy="1580778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9751" y="3446636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▣</a:t>
            </a:r>
            <a:endParaRPr lang="en-US" sz="1688" dirty="0"/>
          </a:p>
        </p:txBody>
      </p:sp>
      <p:sp>
        <p:nvSpPr>
          <p:cNvPr id="56" name="Text 54"/>
          <p:cNvSpPr/>
          <p:nvPr/>
        </p:nvSpPr>
        <p:spPr>
          <a:xfrm>
            <a:off x="6219751" y="3703811"/>
            <a:ext cx="2398184" cy="1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Co-Branded Merch + Content</a:t>
            </a:r>
            <a:endParaRPr lang="en-US" sz="1013" dirty="0"/>
          </a:p>
        </p:txBody>
      </p:sp>
      <p:sp>
        <p:nvSpPr>
          <p:cNvPr id="57" name="Text 55"/>
          <p:cNvSpPr/>
          <p:nvPr/>
        </p:nvSpPr>
        <p:spPr>
          <a:xfrm>
            <a:off x="6219751" y="3915221"/>
            <a:ext cx="2288456" cy="63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2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High-utility co-branded merchandise distributed at events. Post-event Thank You emails link to AliExpress whitepapers + dev portal.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219751" y="4580930"/>
            <a:ext cx="2288456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55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PILLAR 06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7200" y="4843463"/>
            <a:ext cx="77657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SALON TEL AVIV · SPONSORSHIP PROPOSAL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863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00E6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12-MONTH ACTIVATION CALENDAR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0075"/>
            <a:ext cx="8636000" cy="324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spc="-45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Six flagship events, always-on digital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57200" y="985838"/>
            <a:ext cx="571500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Bi-monthly flagship events anchor the partnership. Between events: monthly email blasts + bi-monthly WhatsApp updates keep AliExpress continuously visible.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60772" y="1432322"/>
            <a:ext cx="2259992" cy="210741"/>
          </a:xfrm>
          <a:prstGeom prst="roundRect">
            <a:avLst>
              <a:gd name="adj" fmla="val 4515246"/>
            </a:avLst>
          </a:prstGeom>
          <a:noFill/>
          <a:ln w="7144">
            <a:solidFill>
              <a:srgbClr val="FF005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07231" y="1485900"/>
            <a:ext cx="1924236" cy="129679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BI-MONTHLY CADENCE · M2 → M12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50069" y="1487686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◔</a:t>
            </a:r>
            <a:endParaRPr lang="en-US" sz="984" dirty="0"/>
          </a:p>
        </p:txBody>
      </p:sp>
      <p:sp>
        <p:nvSpPr>
          <p:cNvPr id="8" name="Text 6"/>
          <p:cNvSpPr/>
          <p:nvPr/>
        </p:nvSpPr>
        <p:spPr>
          <a:xfrm>
            <a:off x="992035" y="2389584"/>
            <a:ext cx="301931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9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14350" y="2603897"/>
            <a:ext cx="1257300" cy="285179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Flagship #1 — Opening Keynote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363635" y="2389584"/>
            <a:ext cx="301931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9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885950" y="2603897"/>
            <a:ext cx="1257300" cy="285179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Flagship #2 — AI Insight Forum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735235" y="2389584"/>
            <a:ext cx="301931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9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57550" y="2603897"/>
            <a:ext cx="1257300" cy="285179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Flagship #3 — Community Connect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106835" y="2389584"/>
            <a:ext cx="301931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9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29150" y="2603897"/>
            <a:ext cx="1257300" cy="285179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Flagship #4 — Builder Showcase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16532" y="2389584"/>
            <a:ext cx="425736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9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00750" y="2603897"/>
            <a:ext cx="1257300" cy="285179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Flagship #5 — Global Bridge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88132" y="2389584"/>
            <a:ext cx="425736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spc="-9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72350" y="2603897"/>
            <a:ext cx="1257300" cy="285179"/>
          </a:xfrm>
          <a:prstGeom prst="rect">
            <a:avLst/>
          </a:prstGeom>
          <a:noFill/>
          <a:ln/>
        </p:spPr>
        <p:txBody>
          <a:bodyPr wrap="square" lIns="28575" tIns="0" rIns="28575" bIns="0" rtlCol="0" anchor="t"/>
          <a:lstStyle/>
          <a:p>
            <a:pPr algn="ctr" indent="0" marL="0">
              <a:lnSpc>
                <a:spcPts val="877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Flagship #6 — Year-Cap Summit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3083868"/>
            <a:ext cx="8229600" cy="7144"/>
          </a:xfrm>
          <a:prstGeom prst="rect">
            <a:avLst/>
          </a:prstGeom>
          <a:solidFill>
            <a:srgbClr val="000000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7200" y="3248174"/>
            <a:ext cx="3528395" cy="1190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36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 FLAGSHIP EVENTS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3394621"/>
            <a:ext cx="2839212" cy="153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$12K value-equivalent per activation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261122" y="3248174"/>
            <a:ext cx="0" cy="276374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36144" y="3248174"/>
            <a:ext cx="2450306" cy="1190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36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 MONTHLY EMAIL BLASTS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36144" y="3394621"/>
            <a:ext cx="2560034" cy="12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Always-on digital presence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61472" y="3248174"/>
            <a:ext cx="0" cy="276374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36494" y="3248174"/>
            <a:ext cx="2450306" cy="1190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36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24 WHATSAPP UPDATES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236494" y="3394621"/>
            <a:ext cx="2560034" cy="12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Bi-monthly community drops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7200" y="4843463"/>
            <a:ext cx="77657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12-MONTH ANNUAL PARTNERSHIP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10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42988" y="1932384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➤</a:t>
            </a:r>
            <a:endParaRPr lang="en-US" sz="1969" dirty="0"/>
          </a:p>
        </p:txBody>
      </p:sp>
      <p:sp>
        <p:nvSpPr>
          <p:cNvPr id="32" name="Text 30"/>
          <p:cNvSpPr/>
          <p:nvPr/>
        </p:nvSpPr>
        <p:spPr>
          <a:xfrm>
            <a:off x="1092994" y="2189559"/>
            <a:ext cx="100013" cy="100013"/>
          </a:xfrm>
          <a:prstGeom prst="ellipse">
            <a:avLst/>
          </a:prstGeom>
          <a:solidFill>
            <a:srgbClr val="FF005A"/>
          </a:solidFill>
          <a:ln/>
          <a:effectLst>
            <a:outerShdw sx="100000" sy="100000" kx="0" ky="0" algn="bl" rotWithShape="0" blurRad="101600" dist="50800" dir="16200000">
              <a:srgbClr val="FFFFFF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414588" y="1932384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969" dirty="0"/>
          </a:p>
        </p:txBody>
      </p:sp>
      <p:sp>
        <p:nvSpPr>
          <p:cNvPr id="34" name="Text 32"/>
          <p:cNvSpPr/>
          <p:nvPr/>
        </p:nvSpPr>
        <p:spPr>
          <a:xfrm>
            <a:off x="2464594" y="2189559"/>
            <a:ext cx="100013" cy="100013"/>
          </a:xfrm>
          <a:prstGeom prst="ellipse">
            <a:avLst/>
          </a:prstGeom>
          <a:solidFill>
            <a:srgbClr val="FF005A"/>
          </a:solidFill>
          <a:ln/>
          <a:effectLst>
            <a:outerShdw sx="100000" sy="100000" kx="0" ky="0" algn="bl" rotWithShape="0" blurRad="101600" dist="50800" dir="16200000">
              <a:srgbClr val="FFFFFF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786188" y="1932384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969" dirty="0"/>
          </a:p>
        </p:txBody>
      </p:sp>
      <p:sp>
        <p:nvSpPr>
          <p:cNvPr id="36" name="Text 34"/>
          <p:cNvSpPr/>
          <p:nvPr/>
        </p:nvSpPr>
        <p:spPr>
          <a:xfrm>
            <a:off x="3836194" y="2189559"/>
            <a:ext cx="100013" cy="100013"/>
          </a:xfrm>
          <a:prstGeom prst="ellipse">
            <a:avLst/>
          </a:prstGeom>
          <a:solidFill>
            <a:srgbClr val="FF005A"/>
          </a:solidFill>
          <a:ln/>
          <a:effectLst>
            <a:outerShdw sx="100000" sy="100000" kx="0" ky="0" algn="bl" rotWithShape="0" blurRad="101600" dist="50800" dir="16200000">
              <a:srgbClr val="FFFFFF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157788" y="1932384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969" dirty="0"/>
          </a:p>
        </p:txBody>
      </p:sp>
      <p:sp>
        <p:nvSpPr>
          <p:cNvPr id="38" name="Text 36"/>
          <p:cNvSpPr/>
          <p:nvPr/>
        </p:nvSpPr>
        <p:spPr>
          <a:xfrm>
            <a:off x="5207794" y="2189559"/>
            <a:ext cx="100013" cy="100013"/>
          </a:xfrm>
          <a:prstGeom prst="ellipse">
            <a:avLst/>
          </a:prstGeom>
          <a:solidFill>
            <a:srgbClr val="FF005A"/>
          </a:solidFill>
          <a:ln/>
          <a:effectLst>
            <a:outerShdw sx="100000" sy="100000" kx="0" ky="0" algn="bl" rotWithShape="0" blurRad="101600" dist="50800" dir="16200000">
              <a:srgbClr val="FFFFFF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529388" y="1932384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969" dirty="0"/>
          </a:p>
        </p:txBody>
      </p:sp>
      <p:sp>
        <p:nvSpPr>
          <p:cNvPr id="40" name="Text 38"/>
          <p:cNvSpPr/>
          <p:nvPr/>
        </p:nvSpPr>
        <p:spPr>
          <a:xfrm>
            <a:off x="6579394" y="2189559"/>
            <a:ext cx="100013" cy="100013"/>
          </a:xfrm>
          <a:prstGeom prst="ellipse">
            <a:avLst/>
          </a:prstGeom>
          <a:solidFill>
            <a:srgbClr val="FF005A"/>
          </a:solidFill>
          <a:ln/>
          <a:effectLst>
            <a:outerShdw sx="100000" sy="100000" kx="0" ky="0" algn="bl" rotWithShape="0" blurRad="101600" dist="50800" dir="16200000">
              <a:srgbClr val="FFFFFF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900988" y="1932384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969" dirty="0"/>
          </a:p>
        </p:txBody>
      </p:sp>
      <p:sp>
        <p:nvSpPr>
          <p:cNvPr id="42" name="Text 40"/>
          <p:cNvSpPr/>
          <p:nvPr/>
        </p:nvSpPr>
        <p:spPr>
          <a:xfrm>
            <a:off x="7950994" y="2189559"/>
            <a:ext cx="100013" cy="100013"/>
          </a:xfrm>
          <a:prstGeom prst="ellipse">
            <a:avLst/>
          </a:prstGeom>
          <a:solidFill>
            <a:srgbClr val="FF005A"/>
          </a:solidFill>
          <a:ln/>
          <a:effectLst>
            <a:outerShdw sx="100000" sy="100000" kx="0" ky="0" algn="bl" rotWithShape="0" blurRad="101600" dist="50800" dir="16200000">
              <a:srgbClr val="FFFFFF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E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00875" y="571500"/>
            <a:ext cx="2571750" cy="2571750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672513" y="3429000"/>
            <a:ext cx="14288" cy="857250"/>
          </a:xfrm>
          <a:prstGeom prst="rect">
            <a:avLst/>
          </a:prstGeom>
          <a:solidFill>
            <a:srgbClr val="000000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57200" y="342900"/>
            <a:ext cx="822817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350" b="1" spc="-54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aisalon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071308" y="342900"/>
            <a:ext cx="1615492" cy="394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14"/>
              </a:lnSpc>
              <a:buNone/>
            </a:pPr>
            <a:r>
              <a:rPr lang="en-US" sz="800" b="1" spc="186" kern="0" dirty="0">
                <a:solidFill>
                  <a:srgbClr val="000000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SECTION 02 / 03</a:t>
            </a:r>
            <a:endParaRPr lang="en-US" sz="800" dirty="0"/>
          </a:p>
          <a:p>
            <a:pPr algn="r" indent="0" marL="0">
              <a:lnSpc>
                <a:spcPts val="1114"/>
              </a:lnSpc>
              <a:buNone/>
            </a:pPr>
            <a:r>
              <a:rPr lang="en-US" sz="800" b="1" spc="186" kern="0" dirty="0">
                <a:solidFill>
                  <a:srgbClr val="000000">
                    <a:alpha val="5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SPONSORSHIP PROPOSAL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80939"/>
            <a:ext cx="4069794" cy="1944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75"/>
              </a:lnSpc>
              <a:buNone/>
            </a:pPr>
            <a:r>
              <a:rPr lang="en-US" sz="15750" b="1" spc="-94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5750" dirty="0"/>
          </a:p>
        </p:txBody>
      </p:sp>
      <p:sp>
        <p:nvSpPr>
          <p:cNvPr id="7" name="Text 5"/>
          <p:cNvSpPr/>
          <p:nvPr/>
        </p:nvSpPr>
        <p:spPr>
          <a:xfrm>
            <a:off x="457200" y="3081189"/>
            <a:ext cx="571500" cy="21431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3259782"/>
            <a:ext cx="5746762" cy="339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475" b="1" spc="99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VALUE PROPOSITION</a:t>
            </a:r>
            <a:endParaRPr lang="en-US" sz="2475" dirty="0"/>
          </a:p>
        </p:txBody>
      </p:sp>
      <p:sp>
        <p:nvSpPr>
          <p:cNvPr id="9" name="Text 7"/>
          <p:cNvSpPr/>
          <p:nvPr/>
        </p:nvSpPr>
        <p:spPr>
          <a:xfrm>
            <a:off x="457200" y="3702695"/>
            <a:ext cx="4000500" cy="388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000000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Direct, curated access to the most influential AI audience in Israel.</a:t>
            </a:r>
            <a:endParaRPr lang="en-US" sz="1013" dirty="0"/>
          </a:p>
        </p:txBody>
      </p:sp>
      <p:sp>
        <p:nvSpPr>
          <p:cNvPr id="10" name="Text 8"/>
          <p:cNvSpPr/>
          <p:nvPr/>
        </p:nvSpPr>
        <p:spPr>
          <a:xfrm>
            <a:off x="8237190" y="47291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863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TARGETED AUDIENCE ACCESS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0075"/>
            <a:ext cx="8636000" cy="248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en-US" sz="1575" b="1" spc="-32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highly specialized, influential audience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457200" y="8871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Mirrors the core demographic breakdown of the global AI Salon network.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245803" y="1710370"/>
            <a:ext cx="1714500" cy="1714500"/>
          </a:xfrm>
          <a:prstGeom prst="ellipse">
            <a:avLst/>
          </a:prstGeom>
          <a:solidFill>
            <a:srgbClr val="004F9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4629" y="3560601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005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4629" y="3539170"/>
            <a:ext cx="131771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Founders &amp; Builders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153059" y="3560601"/>
            <a:ext cx="71438" cy="71438"/>
          </a:xfrm>
          <a:prstGeom prst="roundRect">
            <a:avLst>
              <a:gd name="adj" fmla="val 26666"/>
            </a:avLst>
          </a:prstGeom>
          <a:solidFill>
            <a:srgbClr val="00E6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153059" y="3539170"/>
            <a:ext cx="143526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Investors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64629" y="3721336"/>
            <a:ext cx="71438" cy="71438"/>
          </a:xfrm>
          <a:prstGeom prst="roundRect">
            <a:avLst>
              <a:gd name="adj" fmla="val 26666"/>
            </a:avLst>
          </a:prstGeom>
          <a:solidFill>
            <a:srgbClr val="004F9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64629" y="3699904"/>
            <a:ext cx="131771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Technologists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153059" y="3721336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AC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153059" y="3699904"/>
            <a:ext cx="131771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31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Diverse Ecosystem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4314" y="3917789"/>
            <a:ext cx="189759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675" i="1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Salon Tel Aviv community composition</a:t>
            </a:r>
            <a:endParaRPr lang="en-US" sz="675" dirty="0"/>
          </a:p>
        </p:txBody>
      </p:sp>
      <p:sp>
        <p:nvSpPr>
          <p:cNvPr id="15" name="Text 13"/>
          <p:cNvSpPr/>
          <p:nvPr/>
        </p:nvSpPr>
        <p:spPr>
          <a:xfrm>
            <a:off x="4091918" y="1387227"/>
            <a:ext cx="2411685" cy="1366689"/>
          </a:xfrm>
          <a:prstGeom prst="roundRect">
            <a:avLst>
              <a:gd name="adj" fmla="val 278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091918" y="1390799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0031" y="1387227"/>
            <a:ext cx="0" cy="1366689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91918" y="2750344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06205" y="1387227"/>
            <a:ext cx="0" cy="1366689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77655" y="1537246"/>
            <a:ext cx="2061642" cy="410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93"/>
              </a:lnSpc>
              <a:buNone/>
            </a:pPr>
            <a:r>
              <a:rPr lang="en-US" sz="3150" b="1" spc="-126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40%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4277655" y="1988641"/>
            <a:ext cx="2061642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Founders &amp; Builders</a:t>
            </a:r>
            <a:endParaRPr lang="en-US" sz="1013" dirty="0"/>
          </a:p>
        </p:txBody>
      </p:sp>
      <p:sp>
        <p:nvSpPr>
          <p:cNvPr id="22" name="Text 20"/>
          <p:cNvSpPr/>
          <p:nvPr/>
        </p:nvSpPr>
        <p:spPr>
          <a:xfrm>
            <a:off x="4277655" y="2200052"/>
            <a:ext cx="2061642" cy="403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Entrepreneurs and core developers building cutting-edge technologies. The bleeding edge of Israeli AI.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617903" y="1387227"/>
            <a:ext cx="2411685" cy="1366689"/>
          </a:xfrm>
          <a:prstGeom prst="roundRect">
            <a:avLst>
              <a:gd name="adj" fmla="val 278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617903" y="1390799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26017" y="1387227"/>
            <a:ext cx="0" cy="1366689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17903" y="2750344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32191" y="1387227"/>
            <a:ext cx="0" cy="1366689"/>
          </a:xfrm>
          <a:prstGeom prst="line">
            <a:avLst/>
          </a:prstGeom>
          <a:noFill/>
          <a:ln w="28575">
            <a:solidFill>
              <a:srgbClr val="00E6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03641" y="1537246"/>
            <a:ext cx="2061642" cy="410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93"/>
              </a:lnSpc>
              <a:buNone/>
            </a:pPr>
            <a:r>
              <a:rPr lang="en-US" sz="3150" b="1" spc="-126" kern="0" dirty="0">
                <a:solidFill>
                  <a:srgbClr val="00E6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20%</a:t>
            </a:r>
            <a:endParaRPr lang="en-US" sz="3150" dirty="0"/>
          </a:p>
        </p:txBody>
      </p:sp>
      <p:sp>
        <p:nvSpPr>
          <p:cNvPr id="29" name="Text 27"/>
          <p:cNvSpPr/>
          <p:nvPr/>
        </p:nvSpPr>
        <p:spPr>
          <a:xfrm>
            <a:off x="6803641" y="1988641"/>
            <a:ext cx="2061642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Investors</a:t>
            </a:r>
            <a:endParaRPr lang="en-US" sz="1013" dirty="0"/>
          </a:p>
        </p:txBody>
      </p:sp>
      <p:sp>
        <p:nvSpPr>
          <p:cNvPr id="30" name="Text 28"/>
          <p:cNvSpPr/>
          <p:nvPr/>
        </p:nvSpPr>
        <p:spPr>
          <a:xfrm>
            <a:off x="6803641" y="2200052"/>
            <a:ext cx="2061642" cy="403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Active venture capitalists and institutional investors seeking high-growth opportunities in early-stage AI.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091918" y="2868216"/>
            <a:ext cx="2411685" cy="1501304"/>
          </a:xfrm>
          <a:prstGeom prst="roundRect">
            <a:avLst>
              <a:gd name="adj" fmla="val 25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4091918" y="2871788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0031" y="2868216"/>
            <a:ext cx="0" cy="1501304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91918" y="4365947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06205" y="2868216"/>
            <a:ext cx="0" cy="1501304"/>
          </a:xfrm>
          <a:prstGeom prst="line">
            <a:avLst/>
          </a:prstGeom>
          <a:noFill/>
          <a:ln w="28575">
            <a:solidFill>
              <a:srgbClr val="004F9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77655" y="3018234"/>
            <a:ext cx="2061642" cy="410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93"/>
              </a:lnSpc>
              <a:buNone/>
            </a:pPr>
            <a:r>
              <a:rPr lang="en-US" sz="3150" b="1" spc="-126" kern="0" dirty="0">
                <a:solidFill>
                  <a:srgbClr val="004F9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20%</a:t>
            </a:r>
            <a:endParaRPr lang="en-US" sz="3150" dirty="0"/>
          </a:p>
        </p:txBody>
      </p:sp>
      <p:sp>
        <p:nvSpPr>
          <p:cNvPr id="37" name="Text 35"/>
          <p:cNvSpPr/>
          <p:nvPr/>
        </p:nvSpPr>
        <p:spPr>
          <a:xfrm>
            <a:off x="4277655" y="3469630"/>
            <a:ext cx="2171370" cy="166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Technologists &amp; Engineers</a:t>
            </a:r>
            <a:endParaRPr lang="en-US" sz="1013" dirty="0"/>
          </a:p>
        </p:txBody>
      </p:sp>
      <p:sp>
        <p:nvSpPr>
          <p:cNvPr id="38" name="Text 36"/>
          <p:cNvSpPr/>
          <p:nvPr/>
        </p:nvSpPr>
        <p:spPr>
          <a:xfrm>
            <a:off x="4277655" y="3681040"/>
            <a:ext cx="2061642" cy="477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Skilled engineers and AI professionals providing direct access to top-tier technical talent.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617903" y="2868216"/>
            <a:ext cx="2411685" cy="1501304"/>
          </a:xfrm>
          <a:prstGeom prst="roundRect">
            <a:avLst>
              <a:gd name="adj" fmla="val 253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6617903" y="2871788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26017" y="2868216"/>
            <a:ext cx="0" cy="1501304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17903" y="4365947"/>
            <a:ext cx="2411685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32191" y="2868216"/>
            <a:ext cx="0" cy="1501304"/>
          </a:xfrm>
          <a:prstGeom prst="line">
            <a:avLst/>
          </a:prstGeom>
          <a:noFill/>
          <a:ln w="28575">
            <a:solidFill>
              <a:srgbClr val="FFAC3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03641" y="3018234"/>
            <a:ext cx="2061642" cy="410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93"/>
              </a:lnSpc>
              <a:buNone/>
            </a:pPr>
            <a:r>
              <a:rPr lang="en-US" sz="3150" b="1" spc="-126" kern="0" dirty="0">
                <a:solidFill>
                  <a:srgbClr val="FFAC3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20%</a:t>
            </a:r>
            <a:endParaRPr lang="en-US" sz="3150" dirty="0"/>
          </a:p>
        </p:txBody>
      </p:sp>
      <p:sp>
        <p:nvSpPr>
          <p:cNvPr id="45" name="Text 43"/>
          <p:cNvSpPr/>
          <p:nvPr/>
        </p:nvSpPr>
        <p:spPr>
          <a:xfrm>
            <a:off x="6803641" y="3469630"/>
            <a:ext cx="2061642" cy="166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Diverse Ecosystem</a:t>
            </a:r>
            <a:endParaRPr lang="en-US" sz="1013" dirty="0"/>
          </a:p>
        </p:txBody>
      </p:sp>
      <p:sp>
        <p:nvSpPr>
          <p:cNvPr id="46" name="Text 44"/>
          <p:cNvSpPr/>
          <p:nvPr/>
        </p:nvSpPr>
        <p:spPr>
          <a:xfrm>
            <a:off x="6803641" y="3681040"/>
            <a:ext cx="2061642" cy="538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University researchers, corporate innovators, accelerator managers, and small business owners shaping the broader ecosystem.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4843463"/>
            <a:ext cx="77657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AUDIENCE COMPOSITION · AI SALON NETWORK-WIDE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94330" y="285750"/>
            <a:ext cx="2849670" cy="1527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742" kern="0" dirty="0">
                <a:solidFill>
                  <a:srgbClr val="FFFFFF">
                    <a:alpha val="4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59</a:t>
            </a:r>
            <a:endParaRPr lang="en-US" sz="12375" dirty="0"/>
          </a:p>
        </p:txBody>
      </p:sp>
      <p:sp>
        <p:nvSpPr>
          <p:cNvPr id="3" name="Shape 1"/>
          <p:cNvSpPr/>
          <p:nvPr/>
        </p:nvSpPr>
        <p:spPr>
          <a:xfrm>
            <a:off x="2053605" y="2033290"/>
            <a:ext cx="0" cy="1057163"/>
          </a:xfrm>
          <a:prstGeom prst="line">
            <a:avLst/>
          </a:prstGeom>
          <a:noFill/>
          <a:ln w="7144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019364" y="2033290"/>
            <a:ext cx="0" cy="1057163"/>
          </a:xfrm>
          <a:prstGeom prst="line">
            <a:avLst/>
          </a:prstGeom>
          <a:noFill/>
          <a:ln w="7144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84057" y="2033290"/>
            <a:ext cx="0" cy="1057163"/>
          </a:xfrm>
          <a:prstGeom prst="line">
            <a:avLst/>
          </a:prstGeom>
          <a:noFill/>
          <a:ln w="7144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404778"/>
            <a:ext cx="8229600" cy="7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358337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375" dirty="0">
                <a:solidFill>
                  <a:srgbClr val="00E6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3375" dirty="0"/>
          </a:p>
        </p:txBody>
      </p:sp>
      <p:sp>
        <p:nvSpPr>
          <p:cNvPr id="8" name="Text 6"/>
          <p:cNvSpPr/>
          <p:nvPr/>
        </p:nvSpPr>
        <p:spPr>
          <a:xfrm>
            <a:off x="971550" y="3583372"/>
            <a:ext cx="577215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i="1" dirty="0">
                <a:solidFill>
                  <a:srgbClr val="FFFFFF">
                    <a:alpha val="92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“A single Tel Aviv partnership plugs AliExpress into a worldwide AI community — Tel Aviv is the local anchor, the global network is the multiplier.”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457200" y="4843463"/>
            <a:ext cx="77657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AISALON GLOBAL NETWORK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FFFFFF">
                    <a:alpha val="7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 / 10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400050"/>
            <a:ext cx="863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00E6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GLOBAL ECOSYSTEM ASSOCIATION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600075"/>
            <a:ext cx="7072313" cy="733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2475" b="1" spc="-49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 prestigious global network, by the numbers</a:t>
            </a:r>
            <a:endParaRPr lang="en-US" sz="2475" dirty="0"/>
          </a:p>
        </p:txBody>
      </p:sp>
      <p:sp>
        <p:nvSpPr>
          <p:cNvPr id="13" name="Text 11"/>
          <p:cNvSpPr/>
          <p:nvPr/>
        </p:nvSpPr>
        <p:spPr>
          <a:xfrm>
            <a:off x="457200" y="1364679"/>
            <a:ext cx="5429250" cy="38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Partnering with AI Salon Tel Aviv aligns AliExpress with a globally-recognized tech community spanning 59 chapters across 5 continents.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033290"/>
            <a:ext cx="2137053" cy="556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61"/>
              </a:lnSpc>
              <a:buNone/>
            </a:pPr>
            <a:r>
              <a:rPr lang="en-US" sz="4275" b="1" spc="-171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59+</a:t>
            </a:r>
            <a:endParaRPr lang="en-US" sz="4275" dirty="0"/>
          </a:p>
        </p:txBody>
      </p:sp>
      <p:sp>
        <p:nvSpPr>
          <p:cNvPr id="15" name="Text 13"/>
          <p:cNvSpPr/>
          <p:nvPr/>
        </p:nvSpPr>
        <p:spPr>
          <a:xfrm>
            <a:off x="457200" y="2648992"/>
            <a:ext cx="1785149" cy="2940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132" kern="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CHAPTERS WORLDWIDE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2970461"/>
            <a:ext cx="1565391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Across 5 continents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172945" y="2033290"/>
            <a:ext cx="1669929" cy="556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61"/>
              </a:lnSpc>
              <a:buNone/>
            </a:pPr>
            <a:r>
              <a:rPr lang="en-US" sz="4275" b="1" spc="-171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500+</a:t>
            </a:r>
            <a:endParaRPr lang="en-US" sz="4275" dirty="0"/>
          </a:p>
        </p:txBody>
      </p:sp>
      <p:sp>
        <p:nvSpPr>
          <p:cNvPr id="18" name="Text 16"/>
          <p:cNvSpPr/>
          <p:nvPr/>
        </p:nvSpPr>
        <p:spPr>
          <a:xfrm>
            <a:off x="2257202" y="2648992"/>
            <a:ext cx="1501415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132" kern="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GLOBAL EVENTS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257202" y="2831157"/>
            <a:ext cx="1501415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Hosted since 2024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139569" y="2033290"/>
            <a:ext cx="2067133" cy="556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61"/>
              </a:lnSpc>
              <a:buNone/>
            </a:pPr>
            <a:r>
              <a:rPr lang="en-US" sz="4275" b="1" spc="-171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130K+</a:t>
            </a:r>
            <a:endParaRPr lang="en-US" sz="4275" dirty="0"/>
          </a:p>
        </p:txBody>
      </p:sp>
      <p:sp>
        <p:nvSpPr>
          <p:cNvPr id="21" name="Text 19"/>
          <p:cNvSpPr/>
          <p:nvPr/>
        </p:nvSpPr>
        <p:spPr>
          <a:xfrm>
            <a:off x="4222961" y="2648992"/>
            <a:ext cx="1900349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132" kern="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ATTENDEE REGISTRATIONS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222961" y="2831157"/>
            <a:ext cx="2010077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Cumulative community reach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30939" y="2033290"/>
            <a:ext cx="2355426" cy="556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061"/>
              </a:lnSpc>
              <a:buNone/>
            </a:pPr>
            <a:r>
              <a:rPr lang="en-US" sz="4275" b="1" spc="-171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1,500+</a:t>
            </a:r>
            <a:endParaRPr lang="en-US" sz="4275" dirty="0"/>
          </a:p>
        </p:txBody>
      </p:sp>
      <p:sp>
        <p:nvSpPr>
          <p:cNvPr id="24" name="Text 22"/>
          <p:cNvSpPr/>
          <p:nvPr/>
        </p:nvSpPr>
        <p:spPr>
          <a:xfrm>
            <a:off x="6587654" y="2648992"/>
            <a:ext cx="2041996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132" kern="0" dirty="0">
                <a:solidFill>
                  <a:srgbClr val="FFFFFF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PARTICIPATING STARTUPS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587654" y="2831157"/>
            <a:ext cx="2041996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Active community members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00050"/>
            <a:ext cx="863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PRESTIGIOUS GLOBAL PEER GROUP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00075"/>
            <a:ext cx="6915150" cy="666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2250" b="1" spc="-45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 joins an elite roster of tech leaders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457200" y="1302841"/>
            <a:ext cx="822960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 and present global partners that have anchored AI Salon initiatives worldwide.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60772" y="1735038"/>
            <a:ext cx="2621756" cy="835819"/>
          </a:xfrm>
          <a:prstGeom prst="roundRect">
            <a:avLst>
              <a:gd name="adj" fmla="val 4558"/>
            </a:avLst>
          </a:prstGeom>
          <a:solidFill>
            <a:srgbClr val="FFFFFF"/>
          </a:solidFill>
          <a:ln w="7144">
            <a:solidFill>
              <a:srgbClr val="00000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678781" y="1917204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00E6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1828" dirty="0"/>
          </a:p>
        </p:txBody>
      </p:sp>
      <p:sp>
        <p:nvSpPr>
          <p:cNvPr id="7" name="Text 5"/>
          <p:cNvSpPr/>
          <p:nvPr/>
        </p:nvSpPr>
        <p:spPr>
          <a:xfrm>
            <a:off x="871306" y="2174379"/>
            <a:ext cx="1800577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Amazon Web Services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3261122" y="1735038"/>
            <a:ext cx="2621756" cy="835819"/>
          </a:xfrm>
          <a:prstGeom prst="roundRect">
            <a:avLst>
              <a:gd name="adj" fmla="val 4558"/>
            </a:avLst>
          </a:prstGeom>
          <a:solidFill>
            <a:srgbClr val="FFFFFF"/>
          </a:solidFill>
          <a:ln w="7144">
            <a:solidFill>
              <a:srgbClr val="00000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479131" y="1917204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FF005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➤</a:t>
            </a:r>
            <a:endParaRPr lang="en-US" sz="1828" dirty="0"/>
          </a:p>
        </p:txBody>
      </p:sp>
      <p:sp>
        <p:nvSpPr>
          <p:cNvPr id="10" name="Text 8"/>
          <p:cNvSpPr/>
          <p:nvPr/>
        </p:nvSpPr>
        <p:spPr>
          <a:xfrm>
            <a:off x="3767058" y="2174379"/>
            <a:ext cx="1609772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Google for Startups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6061472" y="1735038"/>
            <a:ext cx="2621756" cy="835819"/>
          </a:xfrm>
          <a:prstGeom prst="roundRect">
            <a:avLst>
              <a:gd name="adj" fmla="val 4558"/>
            </a:avLst>
          </a:prstGeom>
          <a:solidFill>
            <a:srgbClr val="FFFFFF"/>
          </a:solidFill>
          <a:ln w="7144">
            <a:solidFill>
              <a:srgbClr val="00000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279481" y="1917204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004F9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13" name="Text 11"/>
          <p:cNvSpPr/>
          <p:nvPr/>
        </p:nvSpPr>
        <p:spPr>
          <a:xfrm>
            <a:off x="6468839" y="2174379"/>
            <a:ext cx="180702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Microsoft for Startups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460772" y="2749451"/>
            <a:ext cx="2621756" cy="1007269"/>
          </a:xfrm>
          <a:prstGeom prst="roundRect">
            <a:avLst>
              <a:gd name="adj" fmla="val 3783"/>
            </a:avLst>
          </a:prstGeom>
          <a:solidFill>
            <a:srgbClr val="FFFFFF"/>
          </a:solidFill>
          <a:ln w="7144">
            <a:solidFill>
              <a:srgbClr val="00000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678781" y="3017341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820A7D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16" name="Text 14"/>
          <p:cNvSpPr/>
          <p:nvPr/>
        </p:nvSpPr>
        <p:spPr>
          <a:xfrm>
            <a:off x="1442466" y="3274516"/>
            <a:ext cx="658368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Appier</a:t>
            </a:r>
            <a:endParaRPr lang="en-US" sz="1125" dirty="0"/>
          </a:p>
        </p:txBody>
      </p:sp>
      <p:sp>
        <p:nvSpPr>
          <p:cNvPr id="17" name="Text 15"/>
          <p:cNvSpPr/>
          <p:nvPr/>
        </p:nvSpPr>
        <p:spPr>
          <a:xfrm>
            <a:off x="3261122" y="2749451"/>
            <a:ext cx="2621756" cy="1007269"/>
          </a:xfrm>
          <a:prstGeom prst="roundRect">
            <a:avLst>
              <a:gd name="adj" fmla="val 3783"/>
            </a:avLst>
          </a:prstGeom>
          <a:solidFill>
            <a:srgbClr val="FFFFFF"/>
          </a:solidFill>
          <a:ln w="7144">
            <a:solidFill>
              <a:srgbClr val="00000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479131" y="2910185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FFAC3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🏛</a:t>
            </a:r>
            <a:endParaRPr lang="en-US" sz="1828" dirty="0"/>
          </a:p>
        </p:txBody>
      </p:sp>
      <p:sp>
        <p:nvSpPr>
          <p:cNvPr id="19" name="Text 17"/>
          <p:cNvSpPr/>
          <p:nvPr/>
        </p:nvSpPr>
        <p:spPr>
          <a:xfrm>
            <a:off x="3436144" y="3167360"/>
            <a:ext cx="22717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Dubai International Finance Center</a:t>
            </a:r>
            <a:endParaRPr lang="en-US" sz="1125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7900" y="2745879"/>
            <a:ext cx="2628900" cy="101441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79481" y="3017341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828" dirty="0"/>
          </a:p>
        </p:txBody>
      </p:sp>
      <p:sp>
        <p:nvSpPr>
          <p:cNvPr id="22" name="Text 19"/>
          <p:cNvSpPr/>
          <p:nvPr/>
        </p:nvSpPr>
        <p:spPr>
          <a:xfrm>
            <a:off x="6892147" y="3274516"/>
            <a:ext cx="960406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b="1" spc="-23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</a:t>
            </a:r>
            <a:endParaRPr lang="en-US" sz="1125" dirty="0"/>
          </a:p>
        </p:txBody>
      </p:sp>
      <p:sp>
        <p:nvSpPr>
          <p:cNvPr id="23" name="Text 20"/>
          <p:cNvSpPr/>
          <p:nvPr/>
        </p:nvSpPr>
        <p:spPr>
          <a:xfrm>
            <a:off x="1857375" y="3974604"/>
            <a:ext cx="5429250" cy="40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68"/>
              </a:lnSpc>
              <a:buNone/>
            </a:pPr>
            <a:r>
              <a:rPr lang="en-US" sz="1013" i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AliExpress would be the </a:t>
            </a:r>
            <a:pPr algn="ctr" indent="0" marL="0">
              <a:lnSpc>
                <a:spcPts val="1468"/>
              </a:lnSpc>
              <a:buNone/>
            </a:pPr>
            <a:r>
              <a:rPr lang="en-US" sz="1013" b="1" i="1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first retail-commerce platform</a:t>
            </a:r>
            <a:pPr algn="ctr" indent="0" marL="0">
              <a:lnSpc>
                <a:spcPts val="1468"/>
              </a:lnSpc>
              <a:buNone/>
            </a:pPr>
            <a:r>
              <a:rPr lang="en-US" sz="1013" i="1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to anchor an AI Salon Tel Aviv partnership — a category-defining position.</a:t>
            </a:r>
            <a:endParaRPr lang="en-US" sz="1013" dirty="0"/>
          </a:p>
        </p:txBody>
      </p:sp>
      <p:sp>
        <p:nvSpPr>
          <p:cNvPr id="24" name="Text 21"/>
          <p:cNvSpPr/>
          <p:nvPr/>
        </p:nvSpPr>
        <p:spPr>
          <a:xfrm>
            <a:off x="457200" y="4843463"/>
            <a:ext cx="776570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PEER SPONSORS · GLOBAL AI SALON NETWORK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7000875" y="571500"/>
            <a:ext cx="2714625" cy="271462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72375" y="1285875"/>
            <a:ext cx="1428750" cy="1428750"/>
          </a:xfrm>
          <a:prstGeom prst="rect">
            <a:avLst/>
          </a:prstGeom>
          <a:solidFill>
            <a:srgbClr val="FF005A">
              <a:alpha val="2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8672513" y="3429000"/>
            <a:ext cx="14288" cy="8572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57200" y="342900"/>
            <a:ext cx="822817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350" b="1" spc="-54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aisalon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7071308" y="342900"/>
            <a:ext cx="1615492" cy="394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14"/>
              </a:lnSpc>
              <a:buNone/>
            </a:pPr>
            <a:r>
              <a:rPr lang="en-US" sz="800" b="1" spc="186" kern="0" dirty="0">
                <a:solidFill>
                  <a:srgbClr val="FFFFFF">
                    <a:alpha val="5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SECTION 03 / 03</a:t>
            </a:r>
            <a:endParaRPr lang="en-US" sz="800" dirty="0"/>
          </a:p>
          <a:p>
            <a:pPr algn="r" indent="0" marL="0">
              <a:lnSpc>
                <a:spcPts val="1114"/>
              </a:lnSpc>
              <a:buNone/>
            </a:pPr>
            <a:r>
              <a:rPr lang="en-US" sz="800" b="1" spc="186" kern="0" dirty="0">
                <a:solidFill>
                  <a:srgbClr val="FFFFFF">
                    <a:alpha val="5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SPONSORSHIP PROPOSAL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237190" y="47291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FFFFFF">
                    <a:alpha val="5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09 / 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1080939"/>
            <a:ext cx="4069794" cy="1944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175"/>
              </a:lnSpc>
              <a:buNone/>
            </a:pPr>
            <a:r>
              <a:rPr lang="en-US" sz="15750" b="1" spc="-945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57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1189"/>
            <a:ext cx="571500" cy="2143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3259782"/>
            <a:ext cx="3757940" cy="3394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2475" b="1" spc="99" kern="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ECONOMICS</a:t>
            </a:r>
            <a:endParaRPr lang="en-US" sz="2475" dirty="0"/>
          </a:p>
        </p:txBody>
      </p:sp>
      <p:sp>
        <p:nvSpPr>
          <p:cNvPr id="11" name="Text 7"/>
          <p:cNvSpPr/>
          <p:nvPr/>
        </p:nvSpPr>
        <p:spPr>
          <a:xfrm>
            <a:off x="457200" y="3702695"/>
            <a:ext cx="4143375" cy="388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FFFFF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Predictable, high-value asset allocation over a committed 12-month term.</a:t>
            </a:r>
            <a:endParaRPr lang="en-US" sz="101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2900"/>
            <a:ext cx="8636000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INVESTMENT SUMMARY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28638"/>
            <a:ext cx="8636000" cy="293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7"/>
              </a:lnSpc>
              <a:buNone/>
            </a:pPr>
            <a:r>
              <a:rPr lang="en-US" sz="2025" b="1" spc="-40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 predictable 12-month commitment</a:t>
            </a:r>
            <a:endParaRPr lang="en-US" sz="2025" dirty="0"/>
          </a:p>
        </p:txBody>
      </p:sp>
      <p:sp>
        <p:nvSpPr>
          <p:cNvPr id="4" name="Text 2"/>
          <p:cNvSpPr/>
          <p:nvPr/>
        </p:nvSpPr>
        <p:spPr>
          <a:xfrm>
            <a:off x="457200" y="849213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Structured for maximum ROI across bi-monthly activations.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156395"/>
            <a:ext cx="4153662" cy="498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34"/>
              </a:lnSpc>
              <a:buNone/>
            </a:pPr>
            <a:r>
              <a:rPr lang="en-US" sz="3825" b="1" spc="-153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$6K</a:t>
            </a:r>
            <a:endParaRPr lang="en-US" sz="3825" dirty="0"/>
          </a:p>
        </p:txBody>
      </p:sp>
      <p:sp>
        <p:nvSpPr>
          <p:cNvPr id="6" name="Text 4"/>
          <p:cNvSpPr/>
          <p:nvPr/>
        </p:nvSpPr>
        <p:spPr>
          <a:xfrm>
            <a:off x="457200" y="1689274"/>
            <a:ext cx="376425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122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 MONTH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61122" y="1156395"/>
            <a:ext cx="0" cy="661467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36144" y="1156395"/>
            <a:ext cx="2450306" cy="498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34"/>
              </a:lnSpc>
              <a:buNone/>
            </a:pPr>
            <a:r>
              <a:rPr lang="en-US" sz="3825" b="1" spc="-153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</a:t>
            </a:r>
            <a:endParaRPr lang="en-US" sz="3825" dirty="0"/>
          </a:p>
        </p:txBody>
      </p:sp>
      <p:sp>
        <p:nvSpPr>
          <p:cNvPr id="9" name="Text 7"/>
          <p:cNvSpPr/>
          <p:nvPr/>
        </p:nvSpPr>
        <p:spPr>
          <a:xfrm>
            <a:off x="3436144" y="1689274"/>
            <a:ext cx="245030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122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 TERM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061472" y="1156395"/>
            <a:ext cx="0" cy="661467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36494" y="1156395"/>
            <a:ext cx="2450306" cy="4983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34"/>
              </a:lnSpc>
              <a:buNone/>
            </a:pPr>
            <a:r>
              <a:rPr lang="en-US" sz="3825" b="1" spc="-153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$72K</a:t>
            </a:r>
            <a:endParaRPr lang="en-US" sz="3825" dirty="0"/>
          </a:p>
        </p:txBody>
      </p:sp>
      <p:sp>
        <p:nvSpPr>
          <p:cNvPr id="12" name="Text 10"/>
          <p:cNvSpPr/>
          <p:nvPr/>
        </p:nvSpPr>
        <p:spPr>
          <a:xfrm>
            <a:off x="6236494" y="1689274"/>
            <a:ext cx="245030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122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TOTAL ANNUAL INVESTMENT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1946449"/>
            <a:ext cx="352756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675" b="1" spc="54" kern="0" dirty="0">
                <a:solidFill>
                  <a:srgbClr val="FF005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 FLAGSHIP EVENTS</a:t>
            </a:r>
            <a:pPr algn="l" indent="0" marL="0">
              <a:lnSpc>
                <a:spcPts val="1013"/>
              </a:lnSpc>
              <a:buNone/>
            </a:pPr>
            <a:r>
              <a:rPr lang="en-US" sz="675" spc="54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· $12K VALUE-EQUIVALENT PER ACTIVATION</a:t>
            </a:r>
            <a:endParaRPr lang="en-US" sz="675" dirty="0"/>
          </a:p>
        </p:txBody>
      </p:sp>
      <p:sp>
        <p:nvSpPr>
          <p:cNvPr id="14" name="Text 12"/>
          <p:cNvSpPr/>
          <p:nvPr/>
        </p:nvSpPr>
        <p:spPr>
          <a:xfrm>
            <a:off x="4020480" y="1946449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B5B5B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26074" y="1946449"/>
            <a:ext cx="17462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MONTHLY EMAIL BLASTS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522900" y="1946449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B5B5B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628494" y="1946449"/>
            <a:ext cx="196714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BI-MONTHLY WHATSAPP UPDATES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521364" y="1946449"/>
            <a:ext cx="11654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B5B5B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" y="2146474"/>
            <a:ext cx="352756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PERSISTENT CHAPTER WEBPAGE BRANDING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2460799"/>
            <a:ext cx="8229600" cy="7144"/>
          </a:xfrm>
          <a:prstGeom prst="rect">
            <a:avLst/>
          </a:prstGeom>
          <a:solidFill>
            <a:srgbClr val="000000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7200" y="2639392"/>
            <a:ext cx="6873238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00E6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NEXT STEPS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2825130"/>
            <a:ext cx="5431438" cy="24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64"/>
              </a:lnSpc>
              <a:buNone/>
            </a:pPr>
            <a:r>
              <a:rPr lang="en-US" sz="1575" b="1" spc="-32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Anchor the Israeli AI ecosystem.</a:t>
            </a:r>
            <a:endParaRPr lang="en-US" sz="1575" dirty="0"/>
          </a:p>
        </p:txBody>
      </p:sp>
      <p:sp>
        <p:nvSpPr>
          <p:cNvPr id="23" name="Text 21"/>
          <p:cNvSpPr/>
          <p:nvPr/>
        </p:nvSpPr>
        <p:spPr>
          <a:xfrm>
            <a:off x="457200" y="3134878"/>
            <a:ext cx="34290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We propose a 30-minute alignment call to finalize the 12-month activation calendar, confirm the AliExpress thought-leadership speakers, and lock the first flagship event date. The partnership can launch within 30 days of signature.</a:t>
            </a:r>
            <a:endParaRPr lang="en-US" sz="844" dirty="0"/>
          </a:p>
        </p:txBody>
      </p:sp>
      <p:sp>
        <p:nvSpPr>
          <p:cNvPr id="24" name="Text 22"/>
          <p:cNvSpPr/>
          <p:nvPr/>
        </p:nvSpPr>
        <p:spPr>
          <a:xfrm>
            <a:off x="457200" y="3892116"/>
            <a:ext cx="2427312" cy="271463"/>
          </a:xfrm>
          <a:prstGeom prst="roundRect">
            <a:avLst>
              <a:gd name="adj" fmla="val 3505257"/>
            </a:avLst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57238" y="3977841"/>
            <a:ext cx="1998687" cy="128016"/>
          </a:xfrm>
          <a:prstGeom prst="rect">
            <a:avLst/>
          </a:prstGeom>
          <a:noFill/>
          <a:ln/>
        </p:spPr>
        <p:txBody>
          <a:bodyPr wrap="none" lIns="128588" tIns="71438" rIns="128588" bIns="71438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108" kern="0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BOOK A 30-MIN ALIGNMENT CALL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85788" y="3970697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5623471" y="2639392"/>
            <a:ext cx="3291818" cy="152418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5623471" y="2642964"/>
            <a:ext cx="3291818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11717" y="2639392"/>
            <a:ext cx="0" cy="1524186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23471" y="4160007"/>
            <a:ext cx="3291818" cy="0"/>
          </a:xfrm>
          <a:prstGeom prst="line">
            <a:avLst/>
          </a:prstGeom>
          <a:noFill/>
          <a:ln w="7144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37758" y="2639392"/>
            <a:ext cx="0" cy="1524186"/>
          </a:xfrm>
          <a:prstGeom prst="line">
            <a:avLst/>
          </a:prstGeom>
          <a:noFill/>
          <a:ln w="28575">
            <a:solidFill>
              <a:srgbClr val="FF005A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0957" y="2775124"/>
            <a:ext cx="228600" cy="22860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5823496" y="2803699"/>
            <a:ext cx="291319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203" kern="0" dirty="0">
                <a:solidFill>
                  <a:srgbClr val="FF005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CONTACT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5823496" y="3003724"/>
            <a:ext cx="2913199" cy="1940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spc="-10" kern="0" dirty="0">
                <a:solidFill>
                  <a:srgbClr val="0000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 Salon Tel Aviv</a:t>
            </a:r>
            <a:endParaRPr lang="en-US" sz="1013" dirty="0"/>
          </a:p>
        </p:txBody>
      </p:sp>
      <p:sp>
        <p:nvSpPr>
          <p:cNvPr id="35" name="Text 32"/>
          <p:cNvSpPr/>
          <p:nvPr/>
        </p:nvSpPr>
        <p:spPr>
          <a:xfrm>
            <a:off x="5823496" y="3225180"/>
            <a:ext cx="2913199" cy="1535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3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Eze Caz · Chapter Lead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5823496" y="3436590"/>
            <a:ext cx="2913199" cy="1511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spc="-8" kern="0" dirty="0">
                <a:solidFill>
                  <a:srgbClr val="FF0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eze@massapro.com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823496" y="3615184"/>
            <a:ext cx="291319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aisalon.massapro.com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457200" y="4843463"/>
            <a:ext cx="31151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SPONSORSHIP PROPOSAL · AUGUST 2026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8237190" y="4843463"/>
            <a:ext cx="68734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35" kern="0" dirty="0">
                <a:solidFill>
                  <a:srgbClr val="000000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2026-08-31T14:04:02Z</dcterms:created>
  <dcterms:modified xsi:type="dcterms:W3CDTF">2026-08-31T14:04:02Z</dcterms:modified>
</cp:coreProperties>
</file>