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Open with the strategic narrative — AI Salon Tel Aviv is the central hub for Israeli AI talent.
- AliExpress has the opportunity to anchor this hub for 12 months.
- Frame as an active investment in the heart of the Israeli tech ecosystem — not a marketing spend.
- Pause briefly after the headline so the visual weight of "The AI Ecosystem Engine" lands before continuing.
- Signal the deck arc: Partnership → Value Proposition → Economics.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Section walks through the structure of the partnership.
- Six bi-monthly flagship events anchor the year; top billing on every chapter communication.
- Exclusive 20-minute thought-leadership slot per event for an AliExpress technical or executive voice.
- Always-on digital reach between events — monthly email blast + bi-monthly WhatsApp community update.
- Frame the package as an active investment, not a marketing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Walk through each of the 6 pillars briefly — they form one integrated system, not a list of disconnected line items.
- Physical events anchor the relationship; digital channels sustain momentum between events; merch + content extends the brand beyond the room.
- Emphasize that thought-leadership slots are explicitly NOT sales pitches — they are technical insights positioning AliExpress as a serious partner.
- Highlight Pillar 02 (Top-Tier Brand Billing) — naming rights on every email, social post, Luma/Meetup page, and opening slide.
- Pillar 04 (Community Digital Reach) is the always-on engine: monthly email + bi-monthly WhatsApp keeps AliExpress continuously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Open with the strategic positioning: every bi-monthly event is themed around a frontier LLM, so each one has a clear hook and a clear reason for the audience to attend.
- The M2 Qwen flagship is the anchor — AliExpress's in-house LLM is the natural opener, demonstrating retail-commerce at scale and giving the community early API access. This positions AliExpress as a serious AI player, not just a marketplace.
- Walk through the model lineup: GPT-5 reasoning, Claude's 200K context + agentic dev tools, Gemini multimodal, Llama open-source fine-tuning, and the M12 multi-model year-cap summit.
- Emphasize the early-access layer: every event pairs the technical deep-dive with concrete perks — API credits, preview access, fine-tuning compute. $32K+ in community value over the year.
- Close with the rhythm: 6 flagship events + 12 monthly email blasts + 24 WhatsApp community drops = continuous visibility for AliExpress, never just one-off moments.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This section answers the question: who exactly does AliExpress reach through this partnership?
- The audience is highly specialized — investors, founders, technologists, and ecosystem players.
- We will break down the exact demographics and the global network this partnership plugs AliExpress into.
- Mirror of slide 02 layout — but in AIS Cyan with black typography (opposite color per brand book §8).
- Next slide drills into the audience composition: 40% founders/builders, 20% investors, 20% engineers, 20% diverse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- 40% of the audience are founders and builders — the people building the next generation of retail-tech, commerce infrastructure, and ML platforms.
- Another 20% are investors who fund them — direct line into early-stage AI capital flows.
- Remaining 40% split between engineers (20%) and the broader ecosystem (research, corporate innovation, accelerators, SMBs).
- This is not a generic tech audience — it is the most curated AI community in Israel.
- Demographics mirror the global AI Salon network, so the Tel Aviv chapter inherits a proven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These numbers are the leverage play — AliExpress is sponsoring Tel Aviv, but really buying into a 59-chapter global network.
- A Tel Aviv keynote speaker's content can be amplified across the entire global AI Salon community.
- 130K+ cumulative registrations is the reach AliExpress is buying into; 1,500+ participating startups signals real density.
- 500+ global events since 2024 validates the network's operational throughput.
- Frame Tel Aviv as the local anchor; the global network is the multiplier.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Peer group is the social proof: AWS, Google for Startups, Microsoft for Startups, Appier, and Dubai International Finance Center have all partnered with AI Salon globally.
- AliExpress would be the first retail-commerce platform to anchor a Tel Aviv chapter partnership — a category-defining position.
- The brand halo from this peer set positions AliExpress alongside cloud and AI infrastructure leaders.
- Use this slide to land the "you'd be in elite company, and uniquely so" narrative.
- Lead into Section 03: this positioning justifies the investment math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 final section is the financial framework — intentionally simple and predictable.
- Flat monthly commitment, 12-month term, total $72K.
- Allocation maps every dollar to either a flagship event or always-on digital value.
- Mirror of slides 02 and 05 layout, but on AIS Black with a gradient divider bar.
- Lead into the closing slide: investment summary + contact + 30-minute alignment call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Close with the ask: $6K/month, 12-month term, $72K total annual investment.
- Walk through allocation: 6 flagship events at $12K value-equivalent each, plus always-on digital (email + WhatsApp) and persistent webpage branding.
- Propose a 30-minute alignment call to finalize the calendar, confirm AliExpress thought-leadership speakers, and lock the first event date.
- The partnership can launch within 30 days of signature — emphasize speed and low-friction onboarding.
- Hand off contact: Eze Caz, Chapter Lead, eze@massapro.com, aisalon.massapro.com.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0005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842963"/>
            <a:ext cx="457200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71575"/>
            <a:ext cx="4681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69" kern="0" dirty="0">
                <a:solidFill>
                  <a:srgbClr val="00E6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EMPOWERING AI CONNECTIONS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528763"/>
            <a:ext cx="4681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TEL AVIV CHAPTER · SPONSORSHIP PROPOSAL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00225"/>
            <a:ext cx="4286250" cy="19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38"/>
              </a:lnSpc>
              <a:buNone/>
            </a:pPr>
            <a:r>
              <a:rPr lang="en-US" sz="4838" b="1" spc="-193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AI Ecosystem Engine</a:t>
            </a:r>
            <a:endParaRPr lang="en-US" sz="4838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86188"/>
            <a:ext cx="457200" cy="285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3957638"/>
            <a:ext cx="3429000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 × AI Salon Tel Aviv — a 12-month exclusive partnership anchoring AliExpress at the heart of Israel's AI community.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7200" y="4917579"/>
            <a:ext cx="46817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55" kern="0" dirty="0">
                <a:solidFill>
                  <a:srgbClr val="FFFFFF">
                    <a:alpha val="5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PREPARED FOR ALIEXPRESS · AUGUST 2026</a:t>
            </a:r>
            <a:endParaRPr lang="en-US" sz="800" dirty="0"/>
          </a:p>
        </p:txBody>
      </p:sp>
      <p:pic>
        <p:nvPicPr>
          <p:cNvPr id="11" name="Image 2" descr="/tmp/h2p-fit-1788201349274-djtvr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0"/>
            <a:ext cx="3657600" cy="514350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0"/>
            <a:ext cx="36576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00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350" b="1" spc="-54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457200" y="1099468"/>
            <a:ext cx="8109049" cy="1944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5"/>
              </a:lnSpc>
              <a:buNone/>
            </a:pPr>
            <a:r>
              <a:rPr lang="en-US" sz="15750" b="1" spc="-945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5750" dirty="0"/>
          </a:p>
        </p:txBody>
      </p:sp>
      <p:sp>
        <p:nvSpPr>
          <p:cNvPr id="4" name="Text 2"/>
          <p:cNvSpPr/>
          <p:nvPr/>
        </p:nvSpPr>
        <p:spPr>
          <a:xfrm>
            <a:off x="457200" y="3056855"/>
            <a:ext cx="571500" cy="2143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3235449"/>
            <a:ext cx="6142605" cy="5092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13"/>
              </a:lnSpc>
              <a:buNone/>
            </a:pPr>
            <a:r>
              <a:rPr lang="en-US" sz="2475" b="1" spc="99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PARTNERSHIP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457200" y="3864099"/>
            <a:ext cx="5068156" cy="19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12-month exclusive anchor partnership — engineered for ecosystem access.</a:t>
            </a:r>
            <a:endParaRPr lang="en-US" sz="1013" dirty="0"/>
          </a:p>
        </p:txBody>
      </p:sp>
      <p:sp>
        <p:nvSpPr>
          <p:cNvPr id="7" name="Text 5"/>
          <p:cNvSpPr/>
          <p:nvPr/>
        </p:nvSpPr>
        <p:spPr>
          <a:xfrm>
            <a:off x="8237190" y="4814888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FFFFFF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SPONSOR PLAN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0075"/>
            <a:ext cx="8636000" cy="356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spc="-49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Six activation pillars across 12 months</a:t>
            </a:r>
            <a:endParaRPr lang="en-US" sz="2475" dirty="0"/>
          </a:p>
        </p:txBody>
      </p:sp>
      <p:sp>
        <p:nvSpPr>
          <p:cNvPr id="4" name="Text 2"/>
          <p:cNvSpPr/>
          <p:nvPr/>
        </p:nvSpPr>
        <p:spPr>
          <a:xfrm>
            <a:off x="457200" y="1015752"/>
            <a:ext cx="5143500" cy="41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pillar is engineered for maximum integration across the Tel Aviv tech community — bi-monthly physical events plus always-on digital channels.</a:t>
            </a:r>
            <a:endParaRPr lang="en-US" sz="1013" dirty="0"/>
          </a:p>
        </p:txBody>
      </p:sp>
      <p:sp>
        <p:nvSpPr>
          <p:cNvPr id="5" name="Text 3"/>
          <p:cNvSpPr/>
          <p:nvPr/>
        </p:nvSpPr>
        <p:spPr>
          <a:xfrm>
            <a:off x="457200" y="1587252"/>
            <a:ext cx="2666963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590824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20591" y="1587252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164458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1488" y="1587252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225" y="175155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688" dirty="0"/>
          </a:p>
        </p:txBody>
      </p:sp>
      <p:sp>
        <p:nvSpPr>
          <p:cNvPr id="11" name="Text 9"/>
          <p:cNvSpPr/>
          <p:nvPr/>
        </p:nvSpPr>
        <p:spPr>
          <a:xfrm>
            <a:off x="657225" y="2008733"/>
            <a:ext cx="2398072" cy="1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Bi-Monthly Event Sponsorship</a:t>
            </a:r>
            <a:endParaRPr lang="en-US" sz="1013" dirty="0"/>
          </a:p>
        </p:txBody>
      </p:sp>
      <p:sp>
        <p:nvSpPr>
          <p:cNvPr id="12" name="Text 10"/>
          <p:cNvSpPr/>
          <p:nvPr/>
        </p:nvSpPr>
        <p:spPr>
          <a:xfrm>
            <a:off x="657225" y="2220144"/>
            <a:ext cx="2288344" cy="63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 presents 6 flagship AI Salon Tel Aviv events across 12 months — every two months, the community convenes under the AliExpress banner.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57225" y="2885852"/>
            <a:ext cx="2288344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38463" y="1587252"/>
            <a:ext cx="2666963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38463" y="1590824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01854" y="1587252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38463" y="3164458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52750" y="1587252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38488" y="175155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★</a:t>
            </a:r>
            <a:endParaRPr lang="en-US" sz="1688" dirty="0"/>
          </a:p>
        </p:txBody>
      </p:sp>
      <p:sp>
        <p:nvSpPr>
          <p:cNvPr id="20" name="Text 18"/>
          <p:cNvSpPr/>
          <p:nvPr/>
        </p:nvSpPr>
        <p:spPr>
          <a:xfrm>
            <a:off x="3438488" y="2008733"/>
            <a:ext cx="2288344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Top-Tier Brand Billing</a:t>
            </a:r>
            <a:endParaRPr lang="en-US" sz="1013" dirty="0"/>
          </a:p>
        </p:txBody>
      </p:sp>
      <p:sp>
        <p:nvSpPr>
          <p:cNvPr id="21" name="Text 19"/>
          <p:cNvSpPr/>
          <p:nvPr/>
        </p:nvSpPr>
        <p:spPr>
          <a:xfrm>
            <a:off x="3438488" y="2220144"/>
            <a:ext cx="2288344" cy="477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“AI Salon Tel Aviv, Presented by AliExpress” on every email, social post, Luma/Meetup page, and opening slide.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38488" y="2740856"/>
            <a:ext cx="22883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19726" y="1587252"/>
            <a:ext cx="2667074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019726" y="1590824"/>
            <a:ext cx="2667074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3228" y="1587252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19726" y="3164458"/>
            <a:ext cx="2667074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34013" y="1587252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9751" y="175155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1688" dirty="0"/>
          </a:p>
        </p:txBody>
      </p:sp>
      <p:sp>
        <p:nvSpPr>
          <p:cNvPr id="29" name="Text 27"/>
          <p:cNvSpPr/>
          <p:nvPr/>
        </p:nvSpPr>
        <p:spPr>
          <a:xfrm>
            <a:off x="6219751" y="2008733"/>
            <a:ext cx="2288456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Thought Leadership Slots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6219751" y="2220144"/>
            <a:ext cx="2288456" cy="63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20-minute “AI Insight” talk per event from an AliExpress technical/executive expert — retail-tech, global commerce, or ML infrastructure.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219751" y="2885852"/>
            <a:ext cx="2288456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3282330"/>
            <a:ext cx="2666963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457200" y="3285902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20591" y="3282330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859536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1488" y="3282330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7225" y="3446636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1688" dirty="0"/>
          </a:p>
        </p:txBody>
      </p:sp>
      <p:sp>
        <p:nvSpPr>
          <p:cNvPr id="38" name="Text 36"/>
          <p:cNvSpPr/>
          <p:nvPr/>
        </p:nvSpPr>
        <p:spPr>
          <a:xfrm>
            <a:off x="657225" y="3703811"/>
            <a:ext cx="2288344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Digital Reach</a:t>
            </a:r>
            <a:endParaRPr lang="en-US" sz="1013" dirty="0"/>
          </a:p>
        </p:txBody>
      </p:sp>
      <p:sp>
        <p:nvSpPr>
          <p:cNvPr id="39" name="Text 37"/>
          <p:cNvSpPr/>
          <p:nvPr/>
        </p:nvSpPr>
        <p:spPr>
          <a:xfrm>
            <a:off x="657225" y="3915221"/>
            <a:ext cx="2288344" cy="477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Monthly email blast + bi-monthly WhatsApp community update featuring AliExpress tools, dev integrations, and exclusive advantages.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57225" y="4435934"/>
            <a:ext cx="22883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04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238463" y="3282330"/>
            <a:ext cx="2666963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3238463" y="3285902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01854" y="3282330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38463" y="4859536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52750" y="3282330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38488" y="3446636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1688" dirty="0"/>
          </a:p>
        </p:txBody>
      </p:sp>
      <p:sp>
        <p:nvSpPr>
          <p:cNvPr id="47" name="Text 45"/>
          <p:cNvSpPr/>
          <p:nvPr/>
        </p:nvSpPr>
        <p:spPr>
          <a:xfrm>
            <a:off x="3438488" y="3703811"/>
            <a:ext cx="2398072" cy="1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Opening + Networking Access</a:t>
            </a:r>
            <a:endParaRPr lang="en-US" sz="1013" dirty="0"/>
          </a:p>
        </p:txBody>
      </p:sp>
      <p:sp>
        <p:nvSpPr>
          <p:cNvPr id="48" name="Text 46"/>
          <p:cNvSpPr/>
          <p:nvPr/>
        </p:nvSpPr>
        <p:spPr>
          <a:xfrm>
            <a:off x="3438488" y="3915221"/>
            <a:ext cx="2288344" cy="477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60-second Community Welcome spot per event, private pre-event briefings with speakers, 5 complimentary tickets per event.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438488" y="4435934"/>
            <a:ext cx="22883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05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019726" y="3282330"/>
            <a:ext cx="2667074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6019726" y="3285902"/>
            <a:ext cx="2667074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3228" y="3282330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19726" y="4859536"/>
            <a:ext cx="2667074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34013" y="3282330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9751" y="3446636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1688" dirty="0"/>
          </a:p>
        </p:txBody>
      </p:sp>
      <p:sp>
        <p:nvSpPr>
          <p:cNvPr id="56" name="Text 54"/>
          <p:cNvSpPr/>
          <p:nvPr/>
        </p:nvSpPr>
        <p:spPr>
          <a:xfrm>
            <a:off x="6219751" y="3703811"/>
            <a:ext cx="2398184" cy="1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Co-Branded Merch + Content</a:t>
            </a:r>
            <a:endParaRPr lang="en-US" sz="1013" dirty="0"/>
          </a:p>
        </p:txBody>
      </p:sp>
      <p:sp>
        <p:nvSpPr>
          <p:cNvPr id="57" name="Text 55"/>
          <p:cNvSpPr/>
          <p:nvPr/>
        </p:nvSpPr>
        <p:spPr>
          <a:xfrm>
            <a:off x="6219751" y="3915221"/>
            <a:ext cx="2288456" cy="63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High-utility co-branded merchandise distributed at events. Post-event Thank You emails link to AliExpress whitepapers + dev portal.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219751" y="4580930"/>
            <a:ext cx="2288456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06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SALON TEL AVIV · SPONSORSHIP PROPOSAL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8636000" cy="133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86" kern="0" dirty="0">
                <a:solidFill>
                  <a:srgbClr val="00E6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12-MONTH LLM ACTIVATION CALENDAR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00050" y="417909"/>
            <a:ext cx="8636000" cy="27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8"/>
              </a:lnSpc>
              <a:buNone/>
            </a:pPr>
            <a:r>
              <a:rPr lang="en-US" sz="1913" b="1" spc="-38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Six flagship events, each anchored by a frontier LLM</a:t>
            </a:r>
            <a:endParaRPr lang="en-US" sz="1913" dirty="0"/>
          </a:p>
        </p:txBody>
      </p:sp>
      <p:sp>
        <p:nvSpPr>
          <p:cNvPr id="4" name="Text 2"/>
          <p:cNvSpPr/>
          <p:nvPr/>
        </p:nvSpPr>
        <p:spPr>
          <a:xfrm>
            <a:off x="400050" y="730002"/>
            <a:ext cx="5429250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Bi-monthly flagship events themed around the world's leading AI models. AliExpress opens the Qwen flagship in Month 2 — its in-house retail-commerce LLM — and closes the year hosting a multi-model summit. Every event pairs a technical deep-dive with early-access benefits for the AI Salon TLV community.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07194" y="1241003"/>
            <a:ext cx="2709825" cy="1514475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4288">
            <a:solidFill>
              <a:srgbClr val="FF005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4338" y="1248147"/>
            <a:ext cx="2695538" cy="532433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tmp/h2p-fit-1788201353088-lt6j5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4338" y="1248147"/>
            <a:ext cx="2695538" cy="53243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1490" y="1856446"/>
            <a:ext cx="970278" cy="184023"/>
          </a:xfrm>
          <a:prstGeom prst="roundRect">
            <a:avLst>
              <a:gd name="adj" fmla="val 5170807"/>
            </a:avLst>
          </a:prstGeom>
          <a:solidFill>
            <a:srgbClr val="FF005A">
              <a:alpha val="8000"/>
            </a:srgbClr>
          </a:solidFill>
          <a:ln w="7144">
            <a:solidFill>
              <a:srgbClr val="FF005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92944" y="1909167"/>
            <a:ext cx="681670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68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EARLY ACCESS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578644" y="190916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14350" y="2087761"/>
            <a:ext cx="2495513" cy="660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AliExpress's in-house LLM.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Live demo of Qwen-Max powering agent-driven product discovery, cross-language search, and global catalog reasoning at marketplace scale. </a:t>
            </a:r>
            <a:pPr algn="l" indent="0" marL="0">
              <a:lnSpc>
                <a:spcPts val="906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gets: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private Qwen API sandbox + $2K in credits.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3213460" y="1237431"/>
            <a:ext cx="2716969" cy="1521619"/>
          </a:xfrm>
          <a:prstGeom prst="roundRect">
            <a:avLst>
              <a:gd name="adj" fmla="val 3756"/>
            </a:avLst>
          </a:prstGeom>
          <a:solidFill>
            <a:srgbClr val="FFFFFF"/>
          </a:solidFill>
          <a:ln w="7144">
            <a:solidFill>
              <a:srgbClr val="E5E5E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217032" y="1241003"/>
            <a:ext cx="2709825" cy="66169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1" descr="/tmp/h2p-fit-1788201353187-6bhy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032" y="1241003"/>
            <a:ext cx="2709825" cy="66169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294184" y="1978560"/>
            <a:ext cx="970278" cy="184023"/>
          </a:xfrm>
          <a:prstGeom prst="roundRect">
            <a:avLst>
              <a:gd name="adj" fmla="val 5170807"/>
            </a:avLst>
          </a:prstGeom>
          <a:solidFill>
            <a:srgbClr val="FF005A">
              <a:alpha val="8000"/>
            </a:srgbClr>
          </a:solidFill>
          <a:ln w="7144">
            <a:solidFill>
              <a:srgbClr val="FF005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3495638" y="2031281"/>
            <a:ext cx="681670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68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EARLY ACCESS</a:t>
            </a:r>
            <a:endParaRPr lang="en-US" sz="600" dirty="0"/>
          </a:p>
        </p:txBody>
      </p:sp>
      <p:sp>
        <p:nvSpPr>
          <p:cNvPr id="17" name="Text 13"/>
          <p:cNvSpPr/>
          <p:nvPr/>
        </p:nvSpPr>
        <p:spPr>
          <a:xfrm>
            <a:off x="3381338" y="2031281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317044" y="2209874"/>
            <a:ext cx="2509800" cy="545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OpenAI researcher on GPT-5 frontier reasoning, o3-style chain-of-thought, and agentic tool-use. </a:t>
            </a:r>
            <a:pPr algn="l" indent="0" marL="0">
              <a:lnSpc>
                <a:spcPts val="906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gets: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$5K in OpenAI API credits + early access to the Agents SDK for AI Salon TLV founders.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023297" y="1237431"/>
            <a:ext cx="2717081" cy="1521619"/>
          </a:xfrm>
          <a:prstGeom prst="roundRect">
            <a:avLst>
              <a:gd name="adj" fmla="val 3756"/>
            </a:avLst>
          </a:prstGeom>
          <a:solidFill>
            <a:srgbClr val="FFFFFF"/>
          </a:solidFill>
          <a:ln w="7144">
            <a:solidFill>
              <a:srgbClr val="E5E5E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6026869" y="1241003"/>
            <a:ext cx="2709937" cy="66169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2" descr="/tmp/h2p-fit-1788201353180-8nij9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869" y="1241003"/>
            <a:ext cx="2709937" cy="66169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104022" y="1978560"/>
            <a:ext cx="970278" cy="184023"/>
          </a:xfrm>
          <a:prstGeom prst="roundRect">
            <a:avLst>
              <a:gd name="adj" fmla="val 5170807"/>
            </a:avLst>
          </a:prstGeom>
          <a:solidFill>
            <a:srgbClr val="FF005A">
              <a:alpha val="8000"/>
            </a:srgbClr>
          </a:solidFill>
          <a:ln w="7144">
            <a:solidFill>
              <a:srgbClr val="FF005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6305476" y="2031281"/>
            <a:ext cx="681670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68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EARLY ACCESS</a:t>
            </a:r>
            <a:endParaRPr lang="en-US" sz="600" dirty="0"/>
          </a:p>
        </p:txBody>
      </p:sp>
      <p:sp>
        <p:nvSpPr>
          <p:cNvPr id="24" name="Text 19"/>
          <p:cNvSpPr/>
          <p:nvPr/>
        </p:nvSpPr>
        <p:spPr>
          <a:xfrm>
            <a:off x="6191176" y="2031281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6126882" y="2209874"/>
            <a:ext cx="2509912" cy="545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Hands-on workshop building with Claude Sonnet 4.5's 200K context window + Claude Code agentic dev tools. </a:t>
            </a:r>
            <a:pPr algn="l" indent="0" marL="0">
              <a:lnSpc>
                <a:spcPts val="906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gets: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30-day Claude Team seats + early Sonnet 4.5 preview.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403622" y="2851919"/>
            <a:ext cx="2716969" cy="1521619"/>
          </a:xfrm>
          <a:prstGeom prst="roundRect">
            <a:avLst>
              <a:gd name="adj" fmla="val 3756"/>
            </a:avLst>
          </a:prstGeom>
          <a:solidFill>
            <a:srgbClr val="FFFFFF"/>
          </a:solidFill>
          <a:ln w="7144">
            <a:solidFill>
              <a:srgbClr val="E5E5E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407194" y="2855491"/>
            <a:ext cx="2709825" cy="66169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8" name="Image 3" descr="/tmp/h2p-fit-1788201353132-5h9eb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194" y="2855491"/>
            <a:ext cx="2709825" cy="66169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484346" y="3593047"/>
            <a:ext cx="970278" cy="184023"/>
          </a:xfrm>
          <a:prstGeom prst="roundRect">
            <a:avLst>
              <a:gd name="adj" fmla="val 5170807"/>
            </a:avLst>
          </a:prstGeom>
          <a:solidFill>
            <a:srgbClr val="FF005A">
              <a:alpha val="8000"/>
            </a:srgbClr>
          </a:solidFill>
          <a:ln w="7144">
            <a:solidFill>
              <a:srgbClr val="FF005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685800" y="3645768"/>
            <a:ext cx="681670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68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EARLY ACCESS</a:t>
            </a:r>
            <a:endParaRPr lang="en-US" sz="600" dirty="0"/>
          </a:p>
        </p:txBody>
      </p:sp>
      <p:sp>
        <p:nvSpPr>
          <p:cNvPr id="31" name="Text 25"/>
          <p:cNvSpPr/>
          <p:nvPr/>
        </p:nvSpPr>
        <p:spPr>
          <a:xfrm>
            <a:off x="571500" y="364576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507206" y="3824362"/>
            <a:ext cx="2509800" cy="545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Google DeepMind team on Gemini 2.5 native multimodal understanding, video reasoning, and Vertex AI deployment. </a:t>
            </a:r>
            <a:pPr algn="l" indent="0" marL="0">
              <a:lnSpc>
                <a:spcPts val="906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gets: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$10K Google Cloud credits + Gemini 2.5 Pro early access.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3213460" y="2851919"/>
            <a:ext cx="2716969" cy="1521619"/>
          </a:xfrm>
          <a:prstGeom prst="roundRect">
            <a:avLst>
              <a:gd name="adj" fmla="val 3756"/>
            </a:avLst>
          </a:prstGeom>
          <a:solidFill>
            <a:srgbClr val="FFFFFF"/>
          </a:solidFill>
          <a:ln w="7144">
            <a:solidFill>
              <a:srgbClr val="E5E5E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8"/>
          <p:cNvSpPr/>
          <p:nvPr/>
        </p:nvSpPr>
        <p:spPr>
          <a:xfrm>
            <a:off x="3217032" y="2855491"/>
            <a:ext cx="2709825" cy="66169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5" name="Image 4" descr="/tmp/h2p-fit-1788201353142-nlhjj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7032" y="2855491"/>
            <a:ext cx="2709825" cy="66169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3294184" y="3593047"/>
            <a:ext cx="970278" cy="184023"/>
          </a:xfrm>
          <a:prstGeom prst="roundRect">
            <a:avLst>
              <a:gd name="adj" fmla="val 5170807"/>
            </a:avLst>
          </a:prstGeom>
          <a:solidFill>
            <a:srgbClr val="FF005A">
              <a:alpha val="8000"/>
            </a:srgbClr>
          </a:solidFill>
          <a:ln w="7144">
            <a:solidFill>
              <a:srgbClr val="FF005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0"/>
          <p:cNvSpPr/>
          <p:nvPr/>
        </p:nvSpPr>
        <p:spPr>
          <a:xfrm>
            <a:off x="3495638" y="3645768"/>
            <a:ext cx="681670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68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EARLY ACCESS</a:t>
            </a:r>
            <a:endParaRPr lang="en-US" sz="600" dirty="0"/>
          </a:p>
        </p:txBody>
      </p:sp>
      <p:sp>
        <p:nvSpPr>
          <p:cNvPr id="38" name="Text 31"/>
          <p:cNvSpPr/>
          <p:nvPr/>
        </p:nvSpPr>
        <p:spPr>
          <a:xfrm>
            <a:off x="3381338" y="364576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3317044" y="3824362"/>
            <a:ext cx="2509800" cy="545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Meta AI engineers lead a fine-tuning lab on Llama 4 open weights for Israeli-domain use cases (Hebrew, retail, defense). </a:t>
            </a:r>
            <a:pPr algn="l" indent="0" marL="0">
              <a:lnSpc>
                <a:spcPts val="906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gets: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free fine-tuned Llama 4 instance per startup + H100 compute hours.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6023297" y="2851919"/>
            <a:ext cx="2717081" cy="1521619"/>
          </a:xfrm>
          <a:prstGeom prst="roundRect">
            <a:avLst>
              <a:gd name="adj" fmla="val 3756"/>
            </a:avLst>
          </a:prstGeom>
          <a:solidFill>
            <a:srgbClr val="FFFFFF"/>
          </a:solidFill>
          <a:ln w="7144">
            <a:solidFill>
              <a:srgbClr val="E5E5E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6026869" y="2855491"/>
            <a:ext cx="2709937" cy="66169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2" name="Image 5" descr="/tmp/h2p-fit-1788201353173-4h55o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6869" y="2855491"/>
            <a:ext cx="2709937" cy="66169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6104022" y="3593047"/>
            <a:ext cx="1094735" cy="184023"/>
          </a:xfrm>
          <a:prstGeom prst="roundRect">
            <a:avLst>
              <a:gd name="adj" fmla="val 5170807"/>
            </a:avLst>
          </a:prstGeom>
          <a:solidFill>
            <a:srgbClr val="FF005A">
              <a:alpha val="8000"/>
            </a:srgbClr>
          </a:solidFill>
          <a:ln w="7144">
            <a:solidFill>
              <a:srgbClr val="FF005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6305476" y="3645768"/>
            <a:ext cx="806128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68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HEADLINE STAGE</a:t>
            </a:r>
            <a:endParaRPr lang="en-US" sz="600" dirty="0"/>
          </a:p>
        </p:txBody>
      </p:sp>
      <p:sp>
        <p:nvSpPr>
          <p:cNvPr id="45" name="Text 37"/>
          <p:cNvSpPr/>
          <p:nvPr/>
        </p:nvSpPr>
        <p:spPr>
          <a:xfrm>
            <a:off x="6191176" y="364576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★</a:t>
            </a:r>
            <a:endParaRPr lang="en-US" sz="800" dirty="0"/>
          </a:p>
        </p:txBody>
      </p:sp>
      <p:sp>
        <p:nvSpPr>
          <p:cNvPr id="46" name="Text 38"/>
          <p:cNvSpPr/>
          <p:nvPr/>
        </p:nvSpPr>
        <p:spPr>
          <a:xfrm>
            <a:off x="6126882" y="3824362"/>
            <a:ext cx="2509912" cy="545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Qwen + OpenAI + Anthropic + Meta leaders on one stage. AliExpress opens with the 2027 retail-AI roadmap. </a:t>
            </a:r>
            <a:pPr algn="l" indent="0" marL="0">
              <a:lnSpc>
                <a:spcPts val="906"/>
              </a:lnSpc>
              <a:buNone/>
            </a:pPr>
            <a:r>
              <a:rPr lang="en-US" sz="800" b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gets: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demo-day pitch slots + published whitepaper co-authored with AliExpress.</a:t>
            </a:r>
            <a:endParaRPr lang="en-US" sz="800" dirty="0"/>
          </a:p>
        </p:txBody>
      </p:sp>
      <p:sp>
        <p:nvSpPr>
          <p:cNvPr id="47" name="Shape 39"/>
          <p:cNvSpPr/>
          <p:nvPr/>
        </p:nvSpPr>
        <p:spPr>
          <a:xfrm>
            <a:off x="400050" y="4466406"/>
            <a:ext cx="8343900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8" name="Text 40"/>
          <p:cNvSpPr/>
          <p:nvPr/>
        </p:nvSpPr>
        <p:spPr>
          <a:xfrm>
            <a:off x="400050" y="4541416"/>
            <a:ext cx="3048575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b="1" spc="91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FLAGSHIP EVENTS · $12K EACH</a:t>
            </a:r>
            <a:endParaRPr lang="en-US" sz="800" dirty="0"/>
          </a:p>
        </p:txBody>
      </p:sp>
      <p:sp>
        <p:nvSpPr>
          <p:cNvPr id="49" name="Text 41"/>
          <p:cNvSpPr/>
          <p:nvPr/>
        </p:nvSpPr>
        <p:spPr>
          <a:xfrm>
            <a:off x="400050" y="4645000"/>
            <a:ext cx="2714625" cy="204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Themed around frontier LLMs — Qwen, GPT-5, Claude, Gemini, Llama, Multi-Model</a:t>
            </a:r>
            <a:endParaRPr lang="en-US" sz="800" dirty="0"/>
          </a:p>
        </p:txBody>
      </p:sp>
      <p:sp>
        <p:nvSpPr>
          <p:cNvPr id="50" name="Shape 42"/>
          <p:cNvSpPr/>
          <p:nvPr/>
        </p:nvSpPr>
        <p:spPr>
          <a:xfrm>
            <a:off x="3218259" y="4541416"/>
            <a:ext cx="0" cy="307851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51" name="Text 43"/>
          <p:cNvSpPr/>
          <p:nvPr/>
        </p:nvSpPr>
        <p:spPr>
          <a:xfrm>
            <a:off x="3321844" y="4541416"/>
            <a:ext cx="2607469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b="1" spc="91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$32K+ IN COMMUNITY PERKS</a:t>
            </a:r>
            <a:endParaRPr lang="en-US" sz="800" dirty="0"/>
          </a:p>
        </p:txBody>
      </p:sp>
      <p:sp>
        <p:nvSpPr>
          <p:cNvPr id="52" name="Text 44"/>
          <p:cNvSpPr/>
          <p:nvPr/>
        </p:nvSpPr>
        <p:spPr>
          <a:xfrm>
            <a:off x="3321844" y="4645000"/>
            <a:ext cx="2607469" cy="142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619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Early API access, credits, fine-tuning compute, and platform seats</a:t>
            </a:r>
            <a:endParaRPr lang="en-US" sz="619" dirty="0"/>
          </a:p>
        </p:txBody>
      </p:sp>
      <p:sp>
        <p:nvSpPr>
          <p:cNvPr id="53" name="Shape 45"/>
          <p:cNvSpPr/>
          <p:nvPr/>
        </p:nvSpPr>
        <p:spPr>
          <a:xfrm>
            <a:off x="6032897" y="4541416"/>
            <a:ext cx="0" cy="307851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54" name="Text 46"/>
          <p:cNvSpPr/>
          <p:nvPr/>
        </p:nvSpPr>
        <p:spPr>
          <a:xfrm>
            <a:off x="6136481" y="4541416"/>
            <a:ext cx="2717197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b="1" spc="91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 MONTHLY + 24 WHATSAPP DROPS</a:t>
            </a:r>
            <a:endParaRPr lang="en-US" sz="800" dirty="0"/>
          </a:p>
        </p:txBody>
      </p:sp>
      <p:sp>
        <p:nvSpPr>
          <p:cNvPr id="55" name="Text 47"/>
          <p:cNvSpPr/>
          <p:nvPr/>
        </p:nvSpPr>
        <p:spPr>
          <a:xfrm>
            <a:off x="6136481" y="4645000"/>
            <a:ext cx="2607469" cy="142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619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Always-on digital keeps AliExpress visible between events</a:t>
            </a:r>
            <a:endParaRPr lang="en-US" sz="619" dirty="0"/>
          </a:p>
        </p:txBody>
      </p:sp>
      <p:sp>
        <p:nvSpPr>
          <p:cNvPr id="56" name="Text 48"/>
          <p:cNvSpPr/>
          <p:nvPr/>
        </p:nvSpPr>
        <p:spPr>
          <a:xfrm>
            <a:off x="400050" y="4868466"/>
            <a:ext cx="79173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24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12-MONTH ANNUAL PARTNERSHIP · LLM-THEMED CALENDAR</a:t>
            </a:r>
            <a:endParaRPr lang="en-US" sz="800" dirty="0"/>
          </a:p>
        </p:txBody>
      </p:sp>
      <p:sp>
        <p:nvSpPr>
          <p:cNvPr id="57" name="Text 49"/>
          <p:cNvSpPr/>
          <p:nvPr/>
        </p:nvSpPr>
        <p:spPr>
          <a:xfrm>
            <a:off x="8331733" y="4868466"/>
            <a:ext cx="62437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24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10</a:t>
            </a:r>
            <a:endParaRPr lang="en-US" sz="800" dirty="0"/>
          </a:p>
        </p:txBody>
      </p:sp>
      <p:sp>
        <p:nvSpPr>
          <p:cNvPr id="58" name="Text 50"/>
          <p:cNvSpPr/>
          <p:nvPr/>
        </p:nvSpPr>
        <p:spPr>
          <a:xfrm>
            <a:off x="462915" y="1309083"/>
            <a:ext cx="653385" cy="196025"/>
          </a:xfrm>
          <a:prstGeom prst="roundRect">
            <a:avLst>
              <a:gd name="adj" fmla="val 14577"/>
            </a:avLst>
          </a:prstGeom>
          <a:solidFill>
            <a:srgbClr val="FF00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1"/>
          <p:cNvSpPr/>
          <p:nvPr/>
        </p:nvSpPr>
        <p:spPr>
          <a:xfrm>
            <a:off x="485775" y="1319585"/>
            <a:ext cx="60766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93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M2 · FEB</a:t>
            </a:r>
            <a:endParaRPr lang="en-US" sz="800" dirty="0"/>
          </a:p>
        </p:txBody>
      </p:sp>
      <p:sp>
        <p:nvSpPr>
          <p:cNvPr id="60" name="Text 52"/>
          <p:cNvSpPr/>
          <p:nvPr/>
        </p:nvSpPr>
        <p:spPr>
          <a:xfrm>
            <a:off x="2634459" y="1309083"/>
            <a:ext cx="419517" cy="196025"/>
          </a:xfrm>
          <a:prstGeom prst="roundRect">
            <a:avLst>
              <a:gd name="adj" fmla="val 14577"/>
            </a:avLst>
          </a:prstGeom>
          <a:solidFill>
            <a:srgbClr val="6F42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3"/>
          <p:cNvSpPr/>
          <p:nvPr/>
        </p:nvSpPr>
        <p:spPr>
          <a:xfrm>
            <a:off x="2649996" y="1319585"/>
            <a:ext cx="38844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-6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Qwen</a:t>
            </a:r>
            <a:endParaRPr lang="en-US" sz="800" dirty="0"/>
          </a:p>
        </p:txBody>
      </p:sp>
      <p:sp>
        <p:nvSpPr>
          <p:cNvPr id="62" name="Text 54"/>
          <p:cNvSpPr/>
          <p:nvPr/>
        </p:nvSpPr>
        <p:spPr>
          <a:xfrm>
            <a:off x="500063" y="1451967"/>
            <a:ext cx="2524088" cy="277749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9525" dir="5400000">
              <a:srgbClr val="000000">
                <a:alpha val="4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spc="-8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Qwen Unveiled — Agentic Commerce at Scale</a:t>
            </a:r>
            <a:endParaRPr lang="en-US" sz="844" dirty="0"/>
          </a:p>
        </p:txBody>
      </p:sp>
      <p:sp>
        <p:nvSpPr>
          <p:cNvPr id="63" name="Text 55"/>
          <p:cNvSpPr/>
          <p:nvPr/>
        </p:nvSpPr>
        <p:spPr>
          <a:xfrm>
            <a:off x="3265609" y="1301940"/>
            <a:ext cx="664994" cy="196025"/>
          </a:xfrm>
          <a:prstGeom prst="roundRect">
            <a:avLst>
              <a:gd name="adj" fmla="val 14577"/>
            </a:avLst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56"/>
          <p:cNvSpPr/>
          <p:nvPr/>
        </p:nvSpPr>
        <p:spPr>
          <a:xfrm>
            <a:off x="3288469" y="1312441"/>
            <a:ext cx="61927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93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M4 · APR</a:t>
            </a:r>
            <a:endParaRPr lang="en-US" sz="800" dirty="0"/>
          </a:p>
        </p:txBody>
      </p:sp>
      <p:sp>
        <p:nvSpPr>
          <p:cNvPr id="65" name="Text 57"/>
          <p:cNvSpPr/>
          <p:nvPr/>
        </p:nvSpPr>
        <p:spPr>
          <a:xfrm>
            <a:off x="5449351" y="1301940"/>
            <a:ext cx="421687" cy="196025"/>
          </a:xfrm>
          <a:prstGeom prst="roundRect">
            <a:avLst>
              <a:gd name="adj" fmla="val 14577"/>
            </a:avLst>
          </a:prstGeom>
          <a:solidFill>
            <a:srgbClr val="10A37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58"/>
          <p:cNvSpPr/>
          <p:nvPr/>
        </p:nvSpPr>
        <p:spPr>
          <a:xfrm>
            <a:off x="5464969" y="1312441"/>
            <a:ext cx="39045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-6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GPT-5</a:t>
            </a:r>
            <a:endParaRPr lang="en-US" sz="800" dirty="0"/>
          </a:p>
        </p:txBody>
      </p:sp>
      <p:sp>
        <p:nvSpPr>
          <p:cNvPr id="67" name="Text 59"/>
          <p:cNvSpPr/>
          <p:nvPr/>
        </p:nvSpPr>
        <p:spPr>
          <a:xfrm>
            <a:off x="3302757" y="1702668"/>
            <a:ext cx="2733828" cy="138875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9525" dir="5400000">
              <a:srgbClr val="000000">
                <a:alpha val="4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spc="-8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GPT-5 Frontier — Reasoning &amp; Agents</a:t>
            </a:r>
            <a:endParaRPr lang="en-US" sz="844" dirty="0"/>
          </a:p>
        </p:txBody>
      </p:sp>
      <p:sp>
        <p:nvSpPr>
          <p:cNvPr id="68" name="Text 60"/>
          <p:cNvSpPr/>
          <p:nvPr/>
        </p:nvSpPr>
        <p:spPr>
          <a:xfrm>
            <a:off x="6075447" y="1301940"/>
            <a:ext cx="644902" cy="196025"/>
          </a:xfrm>
          <a:prstGeom prst="roundRect">
            <a:avLst>
              <a:gd name="adj" fmla="val 14577"/>
            </a:avLst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1"/>
          <p:cNvSpPr/>
          <p:nvPr/>
        </p:nvSpPr>
        <p:spPr>
          <a:xfrm>
            <a:off x="6098307" y="1312441"/>
            <a:ext cx="59918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93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M6 · JUN</a:t>
            </a:r>
            <a:endParaRPr lang="en-US" sz="800" dirty="0"/>
          </a:p>
        </p:txBody>
      </p:sp>
      <p:sp>
        <p:nvSpPr>
          <p:cNvPr id="70" name="Text 62"/>
          <p:cNvSpPr/>
          <p:nvPr/>
        </p:nvSpPr>
        <p:spPr>
          <a:xfrm>
            <a:off x="8206365" y="1301940"/>
            <a:ext cx="476658" cy="196025"/>
          </a:xfrm>
          <a:prstGeom prst="roundRect">
            <a:avLst>
              <a:gd name="adj" fmla="val 14577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3"/>
          <p:cNvSpPr/>
          <p:nvPr/>
        </p:nvSpPr>
        <p:spPr>
          <a:xfrm>
            <a:off x="8224019" y="1312441"/>
            <a:ext cx="4413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-6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Claude</a:t>
            </a:r>
            <a:endParaRPr lang="en-US" sz="800" dirty="0"/>
          </a:p>
        </p:txBody>
      </p:sp>
      <p:sp>
        <p:nvSpPr>
          <p:cNvPr id="72" name="Text 64"/>
          <p:cNvSpPr/>
          <p:nvPr/>
        </p:nvSpPr>
        <p:spPr>
          <a:xfrm>
            <a:off x="6112594" y="1574081"/>
            <a:ext cx="2538487" cy="277749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9525" dir="5400000">
              <a:srgbClr val="000000">
                <a:alpha val="4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spc="-8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Claude Code Live — 200K Context Workshop</a:t>
            </a:r>
            <a:endParaRPr lang="en-US" sz="844" dirty="0"/>
          </a:p>
        </p:txBody>
      </p:sp>
      <p:sp>
        <p:nvSpPr>
          <p:cNvPr id="73" name="Text 65"/>
          <p:cNvSpPr/>
          <p:nvPr/>
        </p:nvSpPr>
        <p:spPr>
          <a:xfrm>
            <a:off x="455771" y="2916427"/>
            <a:ext cx="672807" cy="196025"/>
          </a:xfrm>
          <a:prstGeom prst="roundRect">
            <a:avLst>
              <a:gd name="adj" fmla="val 14577"/>
            </a:avLst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66"/>
          <p:cNvSpPr/>
          <p:nvPr/>
        </p:nvSpPr>
        <p:spPr>
          <a:xfrm>
            <a:off x="478631" y="2926928"/>
            <a:ext cx="62708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93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M8 · AUG</a:t>
            </a:r>
            <a:endParaRPr lang="en-US" sz="800" dirty="0"/>
          </a:p>
        </p:txBody>
      </p:sp>
      <p:sp>
        <p:nvSpPr>
          <p:cNvPr id="75" name="Text 67"/>
          <p:cNvSpPr/>
          <p:nvPr/>
        </p:nvSpPr>
        <p:spPr>
          <a:xfrm>
            <a:off x="2579961" y="2916427"/>
            <a:ext cx="483529" cy="196025"/>
          </a:xfrm>
          <a:prstGeom prst="roundRect">
            <a:avLst>
              <a:gd name="adj" fmla="val 14577"/>
            </a:avLst>
          </a:prstGeom>
          <a:solidFill>
            <a:srgbClr val="4285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68"/>
          <p:cNvSpPr/>
          <p:nvPr/>
        </p:nvSpPr>
        <p:spPr>
          <a:xfrm>
            <a:off x="2597869" y="2926928"/>
            <a:ext cx="44771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-6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Gemini</a:t>
            </a:r>
            <a:endParaRPr lang="en-US" sz="800" dirty="0"/>
          </a:p>
        </p:txBody>
      </p:sp>
      <p:sp>
        <p:nvSpPr>
          <p:cNvPr id="77" name="Text 69"/>
          <p:cNvSpPr/>
          <p:nvPr/>
        </p:nvSpPr>
        <p:spPr>
          <a:xfrm>
            <a:off x="492919" y="3317156"/>
            <a:ext cx="2733828" cy="138875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9525" dir="5400000">
              <a:srgbClr val="000000">
                <a:alpha val="4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spc="-8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Gemini Multimodal — Vision + Vertex AI</a:t>
            </a:r>
            <a:endParaRPr lang="en-US" sz="844" dirty="0"/>
          </a:p>
        </p:txBody>
      </p:sp>
      <p:sp>
        <p:nvSpPr>
          <p:cNvPr id="78" name="Text 70"/>
          <p:cNvSpPr/>
          <p:nvPr/>
        </p:nvSpPr>
        <p:spPr>
          <a:xfrm>
            <a:off x="3265609" y="2916427"/>
            <a:ext cx="730627" cy="196025"/>
          </a:xfrm>
          <a:prstGeom prst="roundRect">
            <a:avLst>
              <a:gd name="adj" fmla="val 14577"/>
            </a:avLst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1"/>
          <p:cNvSpPr/>
          <p:nvPr/>
        </p:nvSpPr>
        <p:spPr>
          <a:xfrm>
            <a:off x="3288469" y="2926928"/>
            <a:ext cx="68490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93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M10 · OCT</a:t>
            </a:r>
            <a:endParaRPr lang="en-US" sz="800" dirty="0"/>
          </a:p>
        </p:txBody>
      </p:sp>
      <p:sp>
        <p:nvSpPr>
          <p:cNvPr id="80" name="Text 72"/>
          <p:cNvSpPr/>
          <p:nvPr/>
        </p:nvSpPr>
        <p:spPr>
          <a:xfrm>
            <a:off x="5351606" y="2916427"/>
            <a:ext cx="523190" cy="196025"/>
          </a:xfrm>
          <a:prstGeom prst="roundRect">
            <a:avLst>
              <a:gd name="adj" fmla="val 14577"/>
            </a:avLst>
          </a:prstGeom>
          <a:solidFill>
            <a:srgbClr val="0467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3"/>
          <p:cNvSpPr/>
          <p:nvPr/>
        </p:nvSpPr>
        <p:spPr>
          <a:xfrm>
            <a:off x="5370984" y="2926928"/>
            <a:ext cx="48443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-6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Llama 4</a:t>
            </a:r>
            <a:endParaRPr lang="en-US" sz="800" dirty="0"/>
          </a:p>
        </p:txBody>
      </p:sp>
      <p:sp>
        <p:nvSpPr>
          <p:cNvPr id="82" name="Text 74"/>
          <p:cNvSpPr/>
          <p:nvPr/>
        </p:nvSpPr>
        <p:spPr>
          <a:xfrm>
            <a:off x="3302757" y="3317156"/>
            <a:ext cx="2733828" cy="138875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9525" dir="5400000">
              <a:srgbClr val="000000">
                <a:alpha val="4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spc="-8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Llama Open Lab — Fine-Tune Your Own</a:t>
            </a:r>
            <a:endParaRPr lang="en-US" sz="844" dirty="0"/>
          </a:p>
        </p:txBody>
      </p:sp>
      <p:sp>
        <p:nvSpPr>
          <p:cNvPr id="83" name="Text 75"/>
          <p:cNvSpPr/>
          <p:nvPr/>
        </p:nvSpPr>
        <p:spPr>
          <a:xfrm>
            <a:off x="6075447" y="2916427"/>
            <a:ext cx="729176" cy="196025"/>
          </a:xfrm>
          <a:prstGeom prst="roundRect">
            <a:avLst>
              <a:gd name="adj" fmla="val 14577"/>
            </a:avLst>
          </a:prstGeom>
          <a:solidFill>
            <a:srgbClr val="000000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76"/>
          <p:cNvSpPr/>
          <p:nvPr/>
        </p:nvSpPr>
        <p:spPr>
          <a:xfrm>
            <a:off x="6098307" y="2926928"/>
            <a:ext cx="6834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93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M12 · DEC</a:t>
            </a:r>
            <a:endParaRPr lang="en-US" sz="800" dirty="0"/>
          </a:p>
        </p:txBody>
      </p:sp>
      <p:pic>
        <p:nvPicPr>
          <p:cNvPr id="8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4237" y="2926928"/>
            <a:ext cx="661132" cy="175022"/>
          </a:xfrm>
          <a:prstGeom prst="rect">
            <a:avLst/>
          </a:prstGeom>
        </p:spPr>
      </p:pic>
      <p:sp>
        <p:nvSpPr>
          <p:cNvPr id="86" name="Text 77"/>
          <p:cNvSpPr/>
          <p:nvPr/>
        </p:nvSpPr>
        <p:spPr>
          <a:xfrm>
            <a:off x="7966350" y="2926928"/>
            <a:ext cx="73690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-6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Multi-Model</a:t>
            </a:r>
            <a:endParaRPr lang="en-US" sz="800" dirty="0"/>
          </a:p>
        </p:txBody>
      </p:sp>
      <p:sp>
        <p:nvSpPr>
          <p:cNvPr id="87" name="Text 78"/>
          <p:cNvSpPr/>
          <p:nvPr/>
        </p:nvSpPr>
        <p:spPr>
          <a:xfrm>
            <a:off x="6112594" y="3317156"/>
            <a:ext cx="2733940" cy="138875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9525" dir="5400000">
              <a:srgbClr val="000000">
                <a:alpha val="4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spc="-8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Year-Cap Summit — The 2027 Roadmap</a:t>
            </a:r>
            <a:endParaRPr lang="en-US" sz="84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E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00875" y="571500"/>
            <a:ext cx="2571750" cy="257175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672513" y="3429000"/>
            <a:ext cx="14288" cy="857250"/>
          </a:xfrm>
          <a:prstGeom prst="rect">
            <a:avLst/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342900"/>
            <a:ext cx="822817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350" b="1" spc="-54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071308" y="342900"/>
            <a:ext cx="1615492" cy="394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800" b="1" spc="186" kern="0" dirty="0">
                <a:solidFill>
                  <a:srgbClr val="000000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SECTION 02 / 03</a:t>
            </a:r>
            <a:endParaRPr lang="en-US" sz="800" dirty="0"/>
          </a:p>
          <a:p>
            <a:pPr algn="r" indent="0" marL="0">
              <a:lnSpc>
                <a:spcPts val="1114"/>
              </a:lnSpc>
              <a:buNone/>
            </a:pPr>
            <a:r>
              <a:rPr lang="en-US" sz="800" b="1" spc="186" kern="0" dirty="0">
                <a:solidFill>
                  <a:srgbClr val="000000">
                    <a:alpha val="5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SPONSORSHIP PROPOSAL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80939"/>
            <a:ext cx="4069794" cy="1944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5"/>
              </a:lnSpc>
              <a:buNone/>
            </a:pPr>
            <a:r>
              <a:rPr lang="en-US" sz="15750" b="1" spc="-94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5750" dirty="0"/>
          </a:p>
        </p:txBody>
      </p:sp>
      <p:sp>
        <p:nvSpPr>
          <p:cNvPr id="7" name="Text 5"/>
          <p:cNvSpPr/>
          <p:nvPr/>
        </p:nvSpPr>
        <p:spPr>
          <a:xfrm>
            <a:off x="457200" y="3081189"/>
            <a:ext cx="571500" cy="21431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3259782"/>
            <a:ext cx="5746762" cy="339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475" b="1" spc="99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VALUE PROPOSITION</a:t>
            </a:r>
            <a:endParaRPr lang="en-US" sz="2475" dirty="0"/>
          </a:p>
        </p:txBody>
      </p:sp>
      <p:sp>
        <p:nvSpPr>
          <p:cNvPr id="9" name="Text 7"/>
          <p:cNvSpPr/>
          <p:nvPr/>
        </p:nvSpPr>
        <p:spPr>
          <a:xfrm>
            <a:off x="457200" y="3702695"/>
            <a:ext cx="4000500" cy="388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000000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Direct, curated access to the most influential AI audience in Israel.</a:t>
            </a:r>
            <a:endParaRPr lang="en-US" sz="1013" dirty="0"/>
          </a:p>
        </p:txBody>
      </p:sp>
      <p:sp>
        <p:nvSpPr>
          <p:cNvPr id="10" name="Text 8"/>
          <p:cNvSpPr/>
          <p:nvPr/>
        </p:nvSpPr>
        <p:spPr>
          <a:xfrm>
            <a:off x="8237190" y="47291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TARGETED AUDIENCE ACCESS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0075"/>
            <a:ext cx="8636000" cy="248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en-US" sz="1575" b="1" spc="-3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highly specialized, influential audience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457200" y="8871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Mirrors the core demographic breakdown of the global AI Salon network.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245803" y="1710370"/>
            <a:ext cx="1714500" cy="1714500"/>
          </a:xfrm>
          <a:prstGeom prst="ellipse">
            <a:avLst/>
          </a:prstGeom>
          <a:solidFill>
            <a:srgbClr val="004F9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4629" y="3560601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00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4629" y="3539170"/>
            <a:ext cx="131771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Founders &amp; Builders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153059" y="3560601"/>
            <a:ext cx="71438" cy="71438"/>
          </a:xfrm>
          <a:prstGeom prst="roundRect">
            <a:avLst>
              <a:gd name="adj" fmla="val 26666"/>
            </a:avLst>
          </a:prstGeom>
          <a:solidFill>
            <a:srgbClr val="00E6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153059" y="3539170"/>
            <a:ext cx="14352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Investors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64629" y="3721336"/>
            <a:ext cx="71438" cy="71438"/>
          </a:xfrm>
          <a:prstGeom prst="roundRect">
            <a:avLst>
              <a:gd name="adj" fmla="val 26666"/>
            </a:avLst>
          </a:prstGeom>
          <a:solidFill>
            <a:srgbClr val="004F9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64629" y="3699904"/>
            <a:ext cx="131771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Technologists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153059" y="3721336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AC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53059" y="3699904"/>
            <a:ext cx="131771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Diverse Ecosystem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4314" y="3917789"/>
            <a:ext cx="18975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675" i="1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Salon Tel Aviv community composition</a:t>
            </a:r>
            <a:endParaRPr lang="en-US" sz="675" dirty="0"/>
          </a:p>
        </p:txBody>
      </p:sp>
      <p:sp>
        <p:nvSpPr>
          <p:cNvPr id="15" name="Text 13"/>
          <p:cNvSpPr/>
          <p:nvPr/>
        </p:nvSpPr>
        <p:spPr>
          <a:xfrm>
            <a:off x="4091918" y="1387227"/>
            <a:ext cx="2411685" cy="1366689"/>
          </a:xfrm>
          <a:prstGeom prst="roundRect">
            <a:avLst>
              <a:gd name="adj" fmla="val 278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091918" y="1390799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0031" y="1387227"/>
            <a:ext cx="0" cy="1366689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91918" y="2750344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06205" y="1387227"/>
            <a:ext cx="0" cy="1366689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7655" y="1537246"/>
            <a:ext cx="2061642" cy="410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3"/>
              </a:lnSpc>
              <a:buNone/>
            </a:pPr>
            <a:r>
              <a:rPr lang="en-US" sz="3150" b="1" spc="-126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40%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4277655" y="1988641"/>
            <a:ext cx="2061642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Founders &amp; Builders</a:t>
            </a:r>
            <a:endParaRPr lang="en-US" sz="1013" dirty="0"/>
          </a:p>
        </p:txBody>
      </p:sp>
      <p:sp>
        <p:nvSpPr>
          <p:cNvPr id="22" name="Text 20"/>
          <p:cNvSpPr/>
          <p:nvPr/>
        </p:nvSpPr>
        <p:spPr>
          <a:xfrm>
            <a:off x="4277655" y="2200052"/>
            <a:ext cx="2061642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Entrepreneurs and core developers building cutting-edge technologies. The bleeding edge of Israeli AI.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617903" y="1387227"/>
            <a:ext cx="2411685" cy="1366689"/>
          </a:xfrm>
          <a:prstGeom prst="roundRect">
            <a:avLst>
              <a:gd name="adj" fmla="val 278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617903" y="1390799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26017" y="1387227"/>
            <a:ext cx="0" cy="1366689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17903" y="2750344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32191" y="1387227"/>
            <a:ext cx="0" cy="1366689"/>
          </a:xfrm>
          <a:prstGeom prst="line">
            <a:avLst/>
          </a:prstGeom>
          <a:noFill/>
          <a:ln w="28575">
            <a:solidFill>
              <a:srgbClr val="00E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03641" y="1537246"/>
            <a:ext cx="2061642" cy="410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3"/>
              </a:lnSpc>
              <a:buNone/>
            </a:pPr>
            <a:r>
              <a:rPr lang="en-US" sz="3150" b="1" spc="-126" kern="0" dirty="0">
                <a:solidFill>
                  <a:srgbClr val="00E6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20%</a:t>
            </a:r>
            <a:endParaRPr lang="en-US" sz="3150" dirty="0"/>
          </a:p>
        </p:txBody>
      </p:sp>
      <p:sp>
        <p:nvSpPr>
          <p:cNvPr id="29" name="Text 27"/>
          <p:cNvSpPr/>
          <p:nvPr/>
        </p:nvSpPr>
        <p:spPr>
          <a:xfrm>
            <a:off x="6803641" y="1988641"/>
            <a:ext cx="2061642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Investors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6803641" y="2200052"/>
            <a:ext cx="2061642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Active venture capitalists and institutional investors seeking high-growth opportunities in early-stage AI.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091918" y="2868216"/>
            <a:ext cx="2411685" cy="1501304"/>
          </a:xfrm>
          <a:prstGeom prst="roundRect">
            <a:avLst>
              <a:gd name="adj" fmla="val 25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091918" y="2871788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0031" y="2868216"/>
            <a:ext cx="0" cy="1501304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91918" y="4365947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06205" y="2868216"/>
            <a:ext cx="0" cy="1501304"/>
          </a:xfrm>
          <a:prstGeom prst="line">
            <a:avLst/>
          </a:prstGeom>
          <a:noFill/>
          <a:ln w="28575">
            <a:solidFill>
              <a:srgbClr val="004F9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7655" y="3018234"/>
            <a:ext cx="2061642" cy="410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3"/>
              </a:lnSpc>
              <a:buNone/>
            </a:pPr>
            <a:r>
              <a:rPr lang="en-US" sz="3150" b="1" spc="-126" kern="0" dirty="0">
                <a:solidFill>
                  <a:srgbClr val="004F9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20%</a:t>
            </a:r>
            <a:endParaRPr lang="en-US" sz="3150" dirty="0"/>
          </a:p>
        </p:txBody>
      </p:sp>
      <p:sp>
        <p:nvSpPr>
          <p:cNvPr id="37" name="Text 35"/>
          <p:cNvSpPr/>
          <p:nvPr/>
        </p:nvSpPr>
        <p:spPr>
          <a:xfrm>
            <a:off x="4277655" y="3469630"/>
            <a:ext cx="2171370" cy="1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Technologists &amp; Engineers</a:t>
            </a:r>
            <a:endParaRPr lang="en-US" sz="1013" dirty="0"/>
          </a:p>
        </p:txBody>
      </p:sp>
      <p:sp>
        <p:nvSpPr>
          <p:cNvPr id="38" name="Text 36"/>
          <p:cNvSpPr/>
          <p:nvPr/>
        </p:nvSpPr>
        <p:spPr>
          <a:xfrm>
            <a:off x="4277655" y="3681040"/>
            <a:ext cx="2061642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Skilled engineers and AI professionals providing direct access to top-tier technical talent.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617903" y="2868216"/>
            <a:ext cx="2411685" cy="1501304"/>
          </a:xfrm>
          <a:prstGeom prst="roundRect">
            <a:avLst>
              <a:gd name="adj" fmla="val 25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617903" y="2871788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26017" y="2868216"/>
            <a:ext cx="0" cy="1501304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17903" y="4365947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32191" y="2868216"/>
            <a:ext cx="0" cy="1501304"/>
          </a:xfrm>
          <a:prstGeom prst="line">
            <a:avLst/>
          </a:prstGeom>
          <a:noFill/>
          <a:ln w="28575">
            <a:solidFill>
              <a:srgbClr val="FFAC3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03641" y="3018234"/>
            <a:ext cx="2061642" cy="410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3"/>
              </a:lnSpc>
              <a:buNone/>
            </a:pPr>
            <a:r>
              <a:rPr lang="en-US" sz="3150" b="1" spc="-126" kern="0" dirty="0">
                <a:solidFill>
                  <a:srgbClr val="FFAC3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20%</a:t>
            </a:r>
            <a:endParaRPr lang="en-US" sz="3150" dirty="0"/>
          </a:p>
        </p:txBody>
      </p:sp>
      <p:sp>
        <p:nvSpPr>
          <p:cNvPr id="45" name="Text 43"/>
          <p:cNvSpPr/>
          <p:nvPr/>
        </p:nvSpPr>
        <p:spPr>
          <a:xfrm>
            <a:off x="6803641" y="3469630"/>
            <a:ext cx="2061642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Diverse Ecosystem</a:t>
            </a:r>
            <a:endParaRPr lang="en-US" sz="1013" dirty="0"/>
          </a:p>
        </p:txBody>
      </p:sp>
      <p:sp>
        <p:nvSpPr>
          <p:cNvPr id="46" name="Text 44"/>
          <p:cNvSpPr/>
          <p:nvPr/>
        </p:nvSpPr>
        <p:spPr>
          <a:xfrm>
            <a:off x="6803641" y="3681040"/>
            <a:ext cx="2061642" cy="53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University researchers, corporate innovators, accelerator managers, and small business owners shaping the broader ecosystem.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AUDIENCE COMPOSITION · AI SALON NETWORK-WIDE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94330" y="285750"/>
            <a:ext cx="2849670" cy="1527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742" kern="0" dirty="0">
                <a:solidFill>
                  <a:srgbClr val="FFFFFF">
                    <a:alpha val="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59</a:t>
            </a:r>
            <a:endParaRPr lang="en-US" sz="12375" dirty="0"/>
          </a:p>
        </p:txBody>
      </p:sp>
      <p:sp>
        <p:nvSpPr>
          <p:cNvPr id="3" name="Shape 1"/>
          <p:cNvSpPr/>
          <p:nvPr/>
        </p:nvSpPr>
        <p:spPr>
          <a:xfrm>
            <a:off x="2053605" y="2033290"/>
            <a:ext cx="0" cy="1057163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19364" y="2033290"/>
            <a:ext cx="0" cy="1057163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84057" y="2033290"/>
            <a:ext cx="0" cy="1057163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04778"/>
            <a:ext cx="8229600" cy="7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358337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375" dirty="0">
                <a:solidFill>
                  <a:srgbClr val="00E6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3375" dirty="0"/>
          </a:p>
        </p:txBody>
      </p:sp>
      <p:sp>
        <p:nvSpPr>
          <p:cNvPr id="8" name="Text 6"/>
          <p:cNvSpPr/>
          <p:nvPr/>
        </p:nvSpPr>
        <p:spPr>
          <a:xfrm>
            <a:off x="971550" y="3583372"/>
            <a:ext cx="577215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i="1" dirty="0">
                <a:solidFill>
                  <a:srgbClr val="FFFFFF">
                    <a:alpha val="92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“A single Tel Aviv partnership plugs AliExpress into a worldwide AI community — Tel Aviv is the local anchor, the global network is the multiplier.”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 GLOBAL NETWORK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FFFFFF">
                    <a:alpha val="7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 / 10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00E6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GLOBAL ECOSYSTEM ASSOCIATION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600075"/>
            <a:ext cx="7072313" cy="733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2475" b="1" spc="-49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prestigious global network, by the numbers</a:t>
            </a:r>
            <a:endParaRPr lang="en-US" sz="2475" dirty="0"/>
          </a:p>
        </p:txBody>
      </p:sp>
      <p:sp>
        <p:nvSpPr>
          <p:cNvPr id="13" name="Text 11"/>
          <p:cNvSpPr/>
          <p:nvPr/>
        </p:nvSpPr>
        <p:spPr>
          <a:xfrm>
            <a:off x="457200" y="1364679"/>
            <a:ext cx="5429250" cy="38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Partnering with AI Salon Tel Aviv aligns AliExpress with a globally-recognized tech community spanning 59 chapters across 5 continents.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033290"/>
            <a:ext cx="2137053" cy="556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61"/>
              </a:lnSpc>
              <a:buNone/>
            </a:pPr>
            <a:r>
              <a:rPr lang="en-US" sz="4275" b="1" spc="-17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59+</a:t>
            </a:r>
            <a:endParaRPr lang="en-US" sz="4275" dirty="0"/>
          </a:p>
        </p:txBody>
      </p:sp>
      <p:sp>
        <p:nvSpPr>
          <p:cNvPr id="15" name="Text 13"/>
          <p:cNvSpPr/>
          <p:nvPr/>
        </p:nvSpPr>
        <p:spPr>
          <a:xfrm>
            <a:off x="457200" y="2648992"/>
            <a:ext cx="1785149" cy="2940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132" kern="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CHAPTERS WORLDWIDE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2970461"/>
            <a:ext cx="1565391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Across 5 continents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72945" y="2033290"/>
            <a:ext cx="1669929" cy="556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61"/>
              </a:lnSpc>
              <a:buNone/>
            </a:pPr>
            <a:r>
              <a:rPr lang="en-US" sz="4275" b="1" spc="-17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500+</a:t>
            </a:r>
            <a:endParaRPr lang="en-US" sz="4275" dirty="0"/>
          </a:p>
        </p:txBody>
      </p:sp>
      <p:sp>
        <p:nvSpPr>
          <p:cNvPr id="18" name="Text 16"/>
          <p:cNvSpPr/>
          <p:nvPr/>
        </p:nvSpPr>
        <p:spPr>
          <a:xfrm>
            <a:off x="2257202" y="2648992"/>
            <a:ext cx="1501415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132" kern="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GLOBAL EVENTS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257202" y="2831157"/>
            <a:ext cx="1501415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Hosted since 2024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139569" y="2033290"/>
            <a:ext cx="2067133" cy="556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61"/>
              </a:lnSpc>
              <a:buNone/>
            </a:pPr>
            <a:r>
              <a:rPr lang="en-US" sz="4275" b="1" spc="-17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130K+</a:t>
            </a:r>
            <a:endParaRPr lang="en-US" sz="4275" dirty="0"/>
          </a:p>
        </p:txBody>
      </p:sp>
      <p:sp>
        <p:nvSpPr>
          <p:cNvPr id="21" name="Text 19"/>
          <p:cNvSpPr/>
          <p:nvPr/>
        </p:nvSpPr>
        <p:spPr>
          <a:xfrm>
            <a:off x="4222961" y="2648992"/>
            <a:ext cx="1900349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132" kern="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ATTENDEE REGISTRATIONS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222961" y="2831157"/>
            <a:ext cx="2010077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Cumulative community reach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30939" y="2033290"/>
            <a:ext cx="2355426" cy="556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61"/>
              </a:lnSpc>
              <a:buNone/>
            </a:pPr>
            <a:r>
              <a:rPr lang="en-US" sz="4275" b="1" spc="-17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1,500+</a:t>
            </a:r>
            <a:endParaRPr lang="en-US" sz="4275" dirty="0"/>
          </a:p>
        </p:txBody>
      </p:sp>
      <p:sp>
        <p:nvSpPr>
          <p:cNvPr id="24" name="Text 22"/>
          <p:cNvSpPr/>
          <p:nvPr/>
        </p:nvSpPr>
        <p:spPr>
          <a:xfrm>
            <a:off x="6587654" y="2648992"/>
            <a:ext cx="2041996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132" kern="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PARTICIPATING STARTUPS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587654" y="2831157"/>
            <a:ext cx="2041996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Active community members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PRESTIGIOUS GLOBAL PEER GROUP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0075"/>
            <a:ext cx="6915150" cy="666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2250" b="1" spc="-4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 joins an elite roster of tech leaders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57200" y="1302841"/>
            <a:ext cx="822960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 and present global partners that have anchored AI Salon initiatives worldwide.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60772" y="1735038"/>
            <a:ext cx="2621756" cy="835819"/>
          </a:xfrm>
          <a:prstGeom prst="roundRect">
            <a:avLst>
              <a:gd name="adj" fmla="val 4558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78781" y="1917204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00E6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828" dirty="0"/>
          </a:p>
        </p:txBody>
      </p:sp>
      <p:sp>
        <p:nvSpPr>
          <p:cNvPr id="7" name="Text 5"/>
          <p:cNvSpPr/>
          <p:nvPr/>
        </p:nvSpPr>
        <p:spPr>
          <a:xfrm>
            <a:off x="871306" y="2174379"/>
            <a:ext cx="1800577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Amazon Web Services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3261122" y="1735038"/>
            <a:ext cx="2621756" cy="835819"/>
          </a:xfrm>
          <a:prstGeom prst="roundRect">
            <a:avLst>
              <a:gd name="adj" fmla="val 4558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479131" y="1917204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➤</a:t>
            </a:r>
            <a:endParaRPr lang="en-US" sz="1828" dirty="0"/>
          </a:p>
        </p:txBody>
      </p:sp>
      <p:sp>
        <p:nvSpPr>
          <p:cNvPr id="10" name="Text 8"/>
          <p:cNvSpPr/>
          <p:nvPr/>
        </p:nvSpPr>
        <p:spPr>
          <a:xfrm>
            <a:off x="3767058" y="2174379"/>
            <a:ext cx="1609772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Google for Startups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6061472" y="1735038"/>
            <a:ext cx="2621756" cy="835819"/>
          </a:xfrm>
          <a:prstGeom prst="roundRect">
            <a:avLst>
              <a:gd name="adj" fmla="val 4558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279481" y="1917204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004F9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13" name="Text 11"/>
          <p:cNvSpPr/>
          <p:nvPr/>
        </p:nvSpPr>
        <p:spPr>
          <a:xfrm>
            <a:off x="6468839" y="2174379"/>
            <a:ext cx="180702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Microsoft for Startups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460772" y="2749451"/>
            <a:ext cx="2621756" cy="1007269"/>
          </a:xfrm>
          <a:prstGeom prst="roundRect">
            <a:avLst>
              <a:gd name="adj" fmla="val 3783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678781" y="3017341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820A7D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16" name="Text 14"/>
          <p:cNvSpPr/>
          <p:nvPr/>
        </p:nvSpPr>
        <p:spPr>
          <a:xfrm>
            <a:off x="1442466" y="3274516"/>
            <a:ext cx="658368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Appier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3261122" y="2749451"/>
            <a:ext cx="2621756" cy="1007269"/>
          </a:xfrm>
          <a:prstGeom prst="roundRect">
            <a:avLst>
              <a:gd name="adj" fmla="val 3783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479131" y="2910185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FFAC3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🏛</a:t>
            </a:r>
            <a:endParaRPr lang="en-US" sz="1828" dirty="0"/>
          </a:p>
        </p:txBody>
      </p:sp>
      <p:sp>
        <p:nvSpPr>
          <p:cNvPr id="19" name="Text 17"/>
          <p:cNvSpPr/>
          <p:nvPr/>
        </p:nvSpPr>
        <p:spPr>
          <a:xfrm>
            <a:off x="3436144" y="3167360"/>
            <a:ext cx="22717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Dubai International Finance Center</a:t>
            </a:r>
            <a:endParaRPr lang="en-US" sz="1125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7900" y="2745879"/>
            <a:ext cx="2628900" cy="101441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79481" y="3017341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828" dirty="0"/>
          </a:p>
        </p:txBody>
      </p:sp>
      <p:sp>
        <p:nvSpPr>
          <p:cNvPr id="22" name="Text 19"/>
          <p:cNvSpPr/>
          <p:nvPr/>
        </p:nvSpPr>
        <p:spPr>
          <a:xfrm>
            <a:off x="6892147" y="3274516"/>
            <a:ext cx="960406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</a:t>
            </a:r>
            <a:endParaRPr lang="en-US" sz="1125" dirty="0"/>
          </a:p>
        </p:txBody>
      </p:sp>
      <p:sp>
        <p:nvSpPr>
          <p:cNvPr id="23" name="Text 20"/>
          <p:cNvSpPr/>
          <p:nvPr/>
        </p:nvSpPr>
        <p:spPr>
          <a:xfrm>
            <a:off x="1857375" y="3974604"/>
            <a:ext cx="5429250" cy="40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68"/>
              </a:lnSpc>
              <a:buNone/>
            </a:pPr>
            <a:r>
              <a:rPr lang="en-US" sz="1013" i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 would be the </a:t>
            </a:r>
            <a:pPr algn="ctr" indent="0" marL="0">
              <a:lnSpc>
                <a:spcPts val="1468"/>
              </a:lnSpc>
              <a:buNone/>
            </a:pPr>
            <a:r>
              <a:rPr lang="en-US" sz="1013" b="1" i="1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first retail-commerce platform</a:t>
            </a:r>
            <a:pPr algn="ctr" indent="0" marL="0">
              <a:lnSpc>
                <a:spcPts val="1468"/>
              </a:lnSpc>
              <a:buNone/>
            </a:pPr>
            <a:r>
              <a:rPr lang="en-US" sz="1013" i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to anchor an AI Salon Tel Aviv partnership — a category-defining position.</a:t>
            </a:r>
            <a:endParaRPr lang="en-US" sz="1013" dirty="0"/>
          </a:p>
        </p:txBody>
      </p:sp>
      <p:sp>
        <p:nvSpPr>
          <p:cNvPr id="24" name="Text 21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PEER SPONSORS · GLOBAL AI SALON NETWORK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000875" y="571500"/>
            <a:ext cx="2714625" cy="27146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72375" y="1285875"/>
            <a:ext cx="1428750" cy="1428750"/>
          </a:xfrm>
          <a:prstGeom prst="rect">
            <a:avLst/>
          </a:prstGeom>
          <a:solidFill>
            <a:srgbClr val="FF005A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8672513" y="3429000"/>
            <a:ext cx="14288" cy="8572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57200" y="342900"/>
            <a:ext cx="822817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350" b="1" spc="-54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7071308" y="342900"/>
            <a:ext cx="1615492" cy="394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800" b="1" spc="186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SECTION 03 / 03</a:t>
            </a:r>
            <a:endParaRPr lang="en-US" sz="800" dirty="0"/>
          </a:p>
          <a:p>
            <a:pPr algn="r" indent="0" marL="0">
              <a:lnSpc>
                <a:spcPts val="1114"/>
              </a:lnSpc>
              <a:buNone/>
            </a:pPr>
            <a:r>
              <a:rPr lang="en-US" sz="800" b="1" spc="186" kern="0" dirty="0">
                <a:solidFill>
                  <a:srgbClr val="FFFFFF">
                    <a:alpha val="5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SPONSORSHIP PROPOSAL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37190" y="47291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FFFFFF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 / 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080939"/>
            <a:ext cx="4069794" cy="1944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5"/>
              </a:lnSpc>
              <a:buNone/>
            </a:pPr>
            <a:r>
              <a:rPr lang="en-US" sz="15750" b="1" spc="-945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57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1189"/>
            <a:ext cx="571500" cy="2143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3259782"/>
            <a:ext cx="3757940" cy="339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475" b="1" spc="99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ECONOMICS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457200" y="3702695"/>
            <a:ext cx="4143375" cy="388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Predictable, high-value asset allocation over a committed 12-month term.</a:t>
            </a:r>
            <a:endParaRPr lang="en-US" sz="101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863600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INVESTMENT SUMMARY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28638"/>
            <a:ext cx="8636000" cy="293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7"/>
              </a:lnSpc>
              <a:buNone/>
            </a:pPr>
            <a:r>
              <a:rPr lang="en-US" sz="2025" b="1" spc="-40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 predictable 12-month commitment</a:t>
            </a:r>
            <a:endParaRPr lang="en-US" sz="2025" dirty="0"/>
          </a:p>
        </p:txBody>
      </p:sp>
      <p:sp>
        <p:nvSpPr>
          <p:cNvPr id="4" name="Text 2"/>
          <p:cNvSpPr/>
          <p:nvPr/>
        </p:nvSpPr>
        <p:spPr>
          <a:xfrm>
            <a:off x="457200" y="849213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Structured for maximum ROI across bi-monthly activations.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156395"/>
            <a:ext cx="4153662" cy="498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34"/>
              </a:lnSpc>
              <a:buNone/>
            </a:pPr>
            <a:r>
              <a:rPr lang="en-US" sz="3825" b="1" spc="-153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$6K</a:t>
            </a:r>
            <a:endParaRPr lang="en-US" sz="3825" dirty="0"/>
          </a:p>
        </p:txBody>
      </p:sp>
      <p:sp>
        <p:nvSpPr>
          <p:cNvPr id="6" name="Text 4"/>
          <p:cNvSpPr/>
          <p:nvPr/>
        </p:nvSpPr>
        <p:spPr>
          <a:xfrm>
            <a:off x="457200" y="1689274"/>
            <a:ext cx="376425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2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 MONTH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61122" y="1156395"/>
            <a:ext cx="0" cy="661467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36144" y="1156395"/>
            <a:ext cx="2450306" cy="498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34"/>
              </a:lnSpc>
              <a:buNone/>
            </a:pPr>
            <a:r>
              <a:rPr lang="en-US" sz="3825" b="1" spc="-153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</a:t>
            </a:r>
            <a:endParaRPr lang="en-US" sz="3825" dirty="0"/>
          </a:p>
        </p:txBody>
      </p:sp>
      <p:sp>
        <p:nvSpPr>
          <p:cNvPr id="9" name="Text 7"/>
          <p:cNvSpPr/>
          <p:nvPr/>
        </p:nvSpPr>
        <p:spPr>
          <a:xfrm>
            <a:off x="3436144" y="1689274"/>
            <a:ext cx="245030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2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 TERM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061472" y="1156395"/>
            <a:ext cx="0" cy="661467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6494" y="1156395"/>
            <a:ext cx="2450306" cy="498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34"/>
              </a:lnSpc>
              <a:buNone/>
            </a:pPr>
            <a:r>
              <a:rPr lang="en-US" sz="3825" b="1" spc="-153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$72K</a:t>
            </a:r>
            <a:endParaRPr lang="en-US" sz="3825" dirty="0"/>
          </a:p>
        </p:txBody>
      </p:sp>
      <p:sp>
        <p:nvSpPr>
          <p:cNvPr id="12" name="Text 10"/>
          <p:cNvSpPr/>
          <p:nvPr/>
        </p:nvSpPr>
        <p:spPr>
          <a:xfrm>
            <a:off x="6236494" y="1689274"/>
            <a:ext cx="245030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2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 ANNUAL INVESTMENT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1946449"/>
            <a:ext cx="352756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675" b="1" spc="54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FLAGSHIP EVENTS</a:t>
            </a:r>
            <a:pPr algn="l" indent="0" marL="0">
              <a:lnSpc>
                <a:spcPts val="1013"/>
              </a:lnSpc>
              <a:buNone/>
            </a:pPr>
            <a:r>
              <a:rPr lang="en-US" sz="675" spc="54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 $12K VALUE-EQUIVALENT PER ACTIVATION</a:t>
            </a:r>
            <a:endParaRPr lang="en-US" sz="675" dirty="0"/>
          </a:p>
        </p:txBody>
      </p:sp>
      <p:sp>
        <p:nvSpPr>
          <p:cNvPr id="14" name="Text 12"/>
          <p:cNvSpPr/>
          <p:nvPr/>
        </p:nvSpPr>
        <p:spPr>
          <a:xfrm>
            <a:off x="4020480" y="1946449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B5B5B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26074" y="1946449"/>
            <a:ext cx="17462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MONTHLY EMAIL BLASTS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522900" y="1946449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B5B5B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628494" y="1946449"/>
            <a:ext cx="196714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BI-MONTHLY WHATSAPP UPDATES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21364" y="1946449"/>
            <a:ext cx="11654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B5B5B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" y="2146474"/>
            <a:ext cx="352756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PERSISTENT CHAPTER WEBPAGE BRANDING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2460799"/>
            <a:ext cx="8229600" cy="7144"/>
          </a:xfrm>
          <a:prstGeom prst="rect">
            <a:avLst/>
          </a:prstGeom>
          <a:solidFill>
            <a:srgbClr val="000000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7200" y="2639392"/>
            <a:ext cx="6873238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00E6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 STEPS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825130"/>
            <a:ext cx="5431438" cy="24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4"/>
              </a:lnSpc>
              <a:buNone/>
            </a:pPr>
            <a:r>
              <a:rPr lang="en-US" sz="1575" b="1" spc="-3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Anchor the Israeli AI ecosystem.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457200" y="3134878"/>
            <a:ext cx="34290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We propose a 30-minute alignment call to finalize the 12-month activation calendar, confirm the AliExpress thought-leadership speakers, and lock the first flagship event date. The partnership can launch within 30 days of signature.</a:t>
            </a:r>
            <a:endParaRPr lang="en-US" sz="844" dirty="0"/>
          </a:p>
        </p:txBody>
      </p:sp>
      <p:sp>
        <p:nvSpPr>
          <p:cNvPr id="24" name="Text 22"/>
          <p:cNvSpPr/>
          <p:nvPr/>
        </p:nvSpPr>
        <p:spPr>
          <a:xfrm>
            <a:off x="457200" y="3892116"/>
            <a:ext cx="2427312" cy="271463"/>
          </a:xfrm>
          <a:prstGeom prst="roundRect">
            <a:avLst>
              <a:gd name="adj" fmla="val 3505257"/>
            </a:avLst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57238" y="3977841"/>
            <a:ext cx="1998687" cy="128016"/>
          </a:xfrm>
          <a:prstGeom prst="rect">
            <a:avLst/>
          </a:prstGeom>
          <a:noFill/>
          <a:ln/>
        </p:spPr>
        <p:txBody>
          <a:bodyPr wrap="none" lIns="128588" tIns="71438" rIns="128588" bIns="71438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08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BOOK A 30-MIN ALIGNMENT CALL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85788" y="397069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5623471" y="2639392"/>
            <a:ext cx="3291818" cy="152418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5623471" y="2642964"/>
            <a:ext cx="3291818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11717" y="2639392"/>
            <a:ext cx="0" cy="1524186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23471" y="4160007"/>
            <a:ext cx="3291818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37758" y="2639392"/>
            <a:ext cx="0" cy="1524186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0957" y="2775124"/>
            <a:ext cx="228600" cy="22860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5823496" y="2803699"/>
            <a:ext cx="29131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CONTACT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823496" y="3003724"/>
            <a:ext cx="2913199" cy="1940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Salon Tel Aviv</a:t>
            </a:r>
            <a:endParaRPr lang="en-US" sz="1013" dirty="0"/>
          </a:p>
        </p:txBody>
      </p:sp>
      <p:sp>
        <p:nvSpPr>
          <p:cNvPr id="35" name="Text 32"/>
          <p:cNvSpPr/>
          <p:nvPr/>
        </p:nvSpPr>
        <p:spPr>
          <a:xfrm>
            <a:off x="5823496" y="3225180"/>
            <a:ext cx="2913199" cy="153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Eze Caz · Chapter Lead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5823496" y="3436590"/>
            <a:ext cx="2913199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spc="-8" kern="0" dirty="0">
                <a:solidFill>
                  <a:srgbClr val="FF0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eze@massapro.com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823496" y="3615184"/>
            <a:ext cx="29131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aisalon.massapro.com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457200" y="4843463"/>
            <a:ext cx="31151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SPONSORSHIP PROPOSAL · AUGUST 2026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2026-08-31T18:35:55Z</dcterms:created>
  <dcterms:modified xsi:type="dcterms:W3CDTF">2026-08-31T18:35:55Z</dcterms:modified>
</cp:coreProperties>
</file>